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4630400" cy="8229600"/>
  <p:notesSz cx="8229600" cy="14630400"/>
  <p:embeddedFontLst>
    <p:embeddedFont>
      <p:font typeface="Platypi Medium"/>
      <p:regular r:id="rId15"/>
    </p:embeddedFont>
    <p:embeddedFont>
      <p:font typeface="Platypi Medium"/>
      <p:regular r:id="rId16"/>
    </p:embeddedFont>
    <p:embeddedFont>
      <p:font typeface="Platypi Medium"/>
      <p:regular r:id="rId17"/>
    </p:embeddedFont>
    <p:embeddedFont>
      <p:font typeface="Platypi Medium"/>
      <p:regular r:id="rId18"/>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 Id="rId15" Type="http://schemas.openxmlformats.org/officeDocument/2006/relationships/font" Target="fonts/font1.fntdata"/><Relationship Id="rId16" Type="http://schemas.openxmlformats.org/officeDocument/2006/relationships/font" Target="fonts/font2.fntdata"/><Relationship Id="rId17" Type="http://schemas.openxmlformats.org/officeDocument/2006/relationships/font" Target="fonts/font3.fntdata"/><Relationship Id="rId18"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7F3F0"/>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6.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8.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262420"/>
            <a:ext cx="7556421" cy="3912870"/>
          </a:xfrm>
          <a:prstGeom prst="rect">
            <a:avLst/>
          </a:prstGeom>
          <a:noFill/>
          <a:ln/>
        </p:spPr>
        <p:txBody>
          <a:bodyPr wrap="square" lIns="0" tIns="0" rIns="0" bIns="0" rtlCol="0" anchor="t"/>
          <a:lstStyle/>
          <a:p>
            <a:pPr indent="0" marL="0">
              <a:lnSpc>
                <a:spcPts val="7700"/>
              </a:lnSpc>
              <a:buNone/>
            </a:pPr>
            <a:r>
              <a:rPr lang="en-US" sz="6150" dirty="0">
                <a:solidFill>
                  <a:srgbClr val="201B18"/>
                </a:solidFill>
                <a:latin typeface="Platypi Medium" pitchFamily="34" charset="0"/>
                <a:ea typeface="Platypi Medium" pitchFamily="34" charset="-122"/>
                <a:cs typeface="Platypi Medium" pitchFamily="34" charset="-120"/>
              </a:rPr>
              <a:t>Haryana Roadways Bus Tracker: Real-Time Location and More</a:t>
            </a:r>
            <a:endParaRPr lang="en-US" sz="6150" dirty="0"/>
          </a:p>
        </p:txBody>
      </p:sp>
      <p:sp>
        <p:nvSpPr>
          <p:cNvPr id="4" name="Text 1"/>
          <p:cNvSpPr/>
          <p:nvPr/>
        </p:nvSpPr>
        <p:spPr>
          <a:xfrm>
            <a:off x="793790" y="5515451"/>
            <a:ext cx="7556421" cy="1451610"/>
          </a:xfrm>
          <a:prstGeom prst="rect">
            <a:avLst/>
          </a:prstGeom>
          <a:noFill/>
          <a:ln/>
        </p:spPr>
        <p:txBody>
          <a:bodyPr wrap="square" lIns="0" tIns="0" rIns="0" bIns="0" rtlCol="0" anchor="t"/>
          <a:lstStyle/>
          <a:p>
            <a:pPr indent="0" marL="0">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Commuters in Haryana face challenges with unpredictable public transportation. This new mobile app aims to provide real-time visibility into bus locations, routes, schedules and alerts - empowering users to plan their journeys with confidence.</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39828" y="1096089"/>
            <a:ext cx="7637145" cy="2018109"/>
          </a:xfrm>
          <a:prstGeom prst="rect">
            <a:avLst/>
          </a:prstGeom>
          <a:noFill/>
          <a:ln/>
        </p:spPr>
        <p:txBody>
          <a:bodyPr wrap="square" lIns="0" tIns="0" rIns="0" bIns="0" rtlCol="0" anchor="t"/>
          <a:lstStyle/>
          <a:p>
            <a:pPr indent="0" marL="0">
              <a:lnSpc>
                <a:spcPts val="5250"/>
              </a:lnSpc>
              <a:buNone/>
            </a:pPr>
            <a:r>
              <a:rPr lang="en-US" sz="4200" dirty="0">
                <a:solidFill>
                  <a:srgbClr val="201B18"/>
                </a:solidFill>
                <a:latin typeface="Platypi Medium" pitchFamily="34" charset="0"/>
                <a:ea typeface="Platypi Medium" pitchFamily="34" charset="-122"/>
                <a:cs typeface="Platypi Medium" pitchFamily="34" charset="-120"/>
              </a:rPr>
              <a:t>Introduction to the Problem: Lack of Transparency in Public Transportation</a:t>
            </a:r>
            <a:endParaRPr lang="en-US" sz="4200" dirty="0"/>
          </a:p>
        </p:txBody>
      </p:sp>
      <p:sp>
        <p:nvSpPr>
          <p:cNvPr id="4" name="Shape 1"/>
          <p:cNvSpPr/>
          <p:nvPr/>
        </p:nvSpPr>
        <p:spPr>
          <a:xfrm>
            <a:off x="6239828" y="3679269"/>
            <a:ext cx="484346" cy="484346"/>
          </a:xfrm>
          <a:prstGeom prst="roundRect">
            <a:avLst>
              <a:gd name="adj" fmla="val 6667"/>
            </a:avLst>
          </a:prstGeom>
          <a:solidFill>
            <a:srgbClr val="F9F7F7"/>
          </a:solidFill>
          <a:ln/>
        </p:spPr>
      </p:sp>
      <p:sp>
        <p:nvSpPr>
          <p:cNvPr id="5" name="Text 2"/>
          <p:cNvSpPr/>
          <p:nvPr/>
        </p:nvSpPr>
        <p:spPr>
          <a:xfrm>
            <a:off x="6409492" y="3759994"/>
            <a:ext cx="145018" cy="322898"/>
          </a:xfrm>
          <a:prstGeom prst="rect">
            <a:avLst/>
          </a:prstGeom>
          <a:noFill/>
          <a:ln/>
        </p:spPr>
        <p:txBody>
          <a:bodyPr wrap="none" lIns="0" tIns="0" rIns="0" bIns="0" rtlCol="0" anchor="t"/>
          <a:lstStyle/>
          <a:p>
            <a:pPr algn="ctr" indent="0" marL="0">
              <a:lnSpc>
                <a:spcPts val="2500"/>
              </a:lnSpc>
              <a:buNone/>
            </a:pPr>
            <a:r>
              <a:rPr lang="en-US" sz="2500" dirty="0">
                <a:solidFill>
                  <a:srgbClr val="504C49"/>
                </a:solidFill>
                <a:latin typeface="Platypi Medium" pitchFamily="34" charset="0"/>
                <a:ea typeface="Platypi Medium" pitchFamily="34" charset="-122"/>
                <a:cs typeface="Platypi Medium" pitchFamily="34" charset="-120"/>
              </a:rPr>
              <a:t>1</a:t>
            </a:r>
            <a:endParaRPr lang="en-US" sz="2500" dirty="0"/>
          </a:p>
        </p:txBody>
      </p:sp>
      <p:sp>
        <p:nvSpPr>
          <p:cNvPr id="6" name="Text 3"/>
          <p:cNvSpPr/>
          <p:nvPr/>
        </p:nvSpPr>
        <p:spPr>
          <a:xfrm>
            <a:off x="6939439" y="3679269"/>
            <a:ext cx="2958584" cy="336352"/>
          </a:xfrm>
          <a:prstGeom prst="rect">
            <a:avLst/>
          </a:prstGeom>
          <a:noFill/>
          <a:ln/>
        </p:spPr>
        <p:txBody>
          <a:bodyPr wrap="none" lIns="0" tIns="0" rIns="0" bIns="0" rtlCol="0" anchor="t"/>
          <a:lstStyle/>
          <a:p>
            <a:pPr indent="0" marL="0">
              <a:lnSpc>
                <a:spcPts val="2600"/>
              </a:lnSpc>
              <a:buNone/>
            </a:pPr>
            <a:r>
              <a:rPr lang="en-US" sz="2100" dirty="0">
                <a:solidFill>
                  <a:srgbClr val="504C49"/>
                </a:solidFill>
                <a:latin typeface="Platypi Medium" pitchFamily="34" charset="0"/>
                <a:ea typeface="Platypi Medium" pitchFamily="34" charset="-122"/>
                <a:cs typeface="Platypi Medium" pitchFamily="34" charset="-120"/>
              </a:rPr>
              <a:t>Unpredictable Arrivals</a:t>
            </a:r>
            <a:endParaRPr lang="en-US" sz="2100" dirty="0"/>
          </a:p>
        </p:txBody>
      </p:sp>
      <p:sp>
        <p:nvSpPr>
          <p:cNvPr id="7" name="Text 4"/>
          <p:cNvSpPr/>
          <p:nvPr/>
        </p:nvSpPr>
        <p:spPr>
          <a:xfrm>
            <a:off x="6939439" y="4144685"/>
            <a:ext cx="3011329" cy="1377315"/>
          </a:xfrm>
          <a:prstGeom prst="rect">
            <a:avLst/>
          </a:prstGeom>
          <a:noFill/>
          <a:ln/>
        </p:spPr>
        <p:txBody>
          <a:bodyPr wrap="square" lIns="0" tIns="0" rIns="0" bIns="0" rtlCol="0" anchor="t"/>
          <a:lstStyle/>
          <a:p>
            <a:pPr indent="0" marL="0">
              <a:lnSpc>
                <a:spcPts val="2700"/>
              </a:lnSpc>
              <a:buNone/>
            </a:pPr>
            <a:r>
              <a:rPr lang="en-US" sz="1650" dirty="0">
                <a:solidFill>
                  <a:srgbClr val="504C49"/>
                </a:solidFill>
                <a:latin typeface="Source Serif Pro" pitchFamily="34" charset="0"/>
                <a:ea typeface="Source Serif Pro" pitchFamily="34" charset="-122"/>
                <a:cs typeface="Source Serif Pro" pitchFamily="34" charset="-120"/>
              </a:rPr>
              <a:t>Commuters often have no way to know when their bus will arrive, leading to frustration and wasted time.</a:t>
            </a:r>
            <a:endParaRPr lang="en-US" sz="1650" dirty="0"/>
          </a:p>
        </p:txBody>
      </p:sp>
      <p:sp>
        <p:nvSpPr>
          <p:cNvPr id="8" name="Shape 5"/>
          <p:cNvSpPr/>
          <p:nvPr/>
        </p:nvSpPr>
        <p:spPr>
          <a:xfrm>
            <a:off x="10166033" y="3679269"/>
            <a:ext cx="484346" cy="484346"/>
          </a:xfrm>
          <a:prstGeom prst="roundRect">
            <a:avLst>
              <a:gd name="adj" fmla="val 6667"/>
            </a:avLst>
          </a:prstGeom>
          <a:solidFill>
            <a:srgbClr val="F9F7F7"/>
          </a:solidFill>
          <a:ln/>
        </p:spPr>
      </p:sp>
      <p:sp>
        <p:nvSpPr>
          <p:cNvPr id="9" name="Text 6"/>
          <p:cNvSpPr/>
          <p:nvPr/>
        </p:nvSpPr>
        <p:spPr>
          <a:xfrm>
            <a:off x="10303907" y="3759994"/>
            <a:ext cx="208598" cy="322898"/>
          </a:xfrm>
          <a:prstGeom prst="rect">
            <a:avLst/>
          </a:prstGeom>
          <a:noFill/>
          <a:ln/>
        </p:spPr>
        <p:txBody>
          <a:bodyPr wrap="none" lIns="0" tIns="0" rIns="0" bIns="0" rtlCol="0" anchor="t"/>
          <a:lstStyle/>
          <a:p>
            <a:pPr algn="ctr" indent="0" marL="0">
              <a:lnSpc>
                <a:spcPts val="2500"/>
              </a:lnSpc>
              <a:buNone/>
            </a:pPr>
            <a:r>
              <a:rPr lang="en-US" sz="2500" dirty="0">
                <a:solidFill>
                  <a:srgbClr val="504C49"/>
                </a:solidFill>
                <a:latin typeface="Platypi Medium" pitchFamily="34" charset="0"/>
                <a:ea typeface="Platypi Medium" pitchFamily="34" charset="-122"/>
                <a:cs typeface="Platypi Medium" pitchFamily="34" charset="-120"/>
              </a:rPr>
              <a:t>2</a:t>
            </a:r>
            <a:endParaRPr lang="en-US" sz="2500" dirty="0"/>
          </a:p>
        </p:txBody>
      </p:sp>
      <p:sp>
        <p:nvSpPr>
          <p:cNvPr id="10" name="Text 7"/>
          <p:cNvSpPr/>
          <p:nvPr/>
        </p:nvSpPr>
        <p:spPr>
          <a:xfrm>
            <a:off x="10865644" y="3679269"/>
            <a:ext cx="2690812" cy="336352"/>
          </a:xfrm>
          <a:prstGeom prst="rect">
            <a:avLst/>
          </a:prstGeom>
          <a:noFill/>
          <a:ln/>
        </p:spPr>
        <p:txBody>
          <a:bodyPr wrap="none" lIns="0" tIns="0" rIns="0" bIns="0" rtlCol="0" anchor="t"/>
          <a:lstStyle/>
          <a:p>
            <a:pPr indent="0" marL="0">
              <a:lnSpc>
                <a:spcPts val="2600"/>
              </a:lnSpc>
              <a:buNone/>
            </a:pPr>
            <a:r>
              <a:rPr lang="en-US" sz="2100" dirty="0">
                <a:solidFill>
                  <a:srgbClr val="504C49"/>
                </a:solidFill>
                <a:latin typeface="Platypi Medium" pitchFamily="34" charset="0"/>
                <a:ea typeface="Platypi Medium" pitchFamily="34" charset="-122"/>
                <a:cs typeface="Platypi Medium" pitchFamily="34" charset="-120"/>
              </a:rPr>
              <a:t>Unclear Routes</a:t>
            </a:r>
            <a:endParaRPr lang="en-US" sz="2100" dirty="0"/>
          </a:p>
        </p:txBody>
      </p:sp>
      <p:sp>
        <p:nvSpPr>
          <p:cNvPr id="11" name="Text 8"/>
          <p:cNvSpPr/>
          <p:nvPr/>
        </p:nvSpPr>
        <p:spPr>
          <a:xfrm>
            <a:off x="10865644" y="4144685"/>
            <a:ext cx="3011329" cy="1377315"/>
          </a:xfrm>
          <a:prstGeom prst="rect">
            <a:avLst/>
          </a:prstGeom>
          <a:noFill/>
          <a:ln/>
        </p:spPr>
        <p:txBody>
          <a:bodyPr wrap="square" lIns="0" tIns="0" rIns="0" bIns="0" rtlCol="0" anchor="t"/>
          <a:lstStyle/>
          <a:p>
            <a:pPr indent="0" marL="0">
              <a:lnSpc>
                <a:spcPts val="2700"/>
              </a:lnSpc>
              <a:buNone/>
            </a:pPr>
            <a:r>
              <a:rPr lang="en-US" sz="1650" dirty="0">
                <a:solidFill>
                  <a:srgbClr val="504C49"/>
                </a:solidFill>
                <a:latin typeface="Source Serif Pro" pitchFamily="34" charset="0"/>
                <a:ea typeface="Source Serif Pro" pitchFamily="34" charset="-122"/>
                <a:cs typeface="Source Serif Pro" pitchFamily="34" charset="-120"/>
              </a:rPr>
              <a:t>Navigating the bus system is difficult without easy access to route maps and schedule information.</a:t>
            </a:r>
            <a:endParaRPr lang="en-US" sz="1650" dirty="0"/>
          </a:p>
        </p:txBody>
      </p:sp>
      <p:sp>
        <p:nvSpPr>
          <p:cNvPr id="12" name="Shape 9"/>
          <p:cNvSpPr/>
          <p:nvPr/>
        </p:nvSpPr>
        <p:spPr>
          <a:xfrm>
            <a:off x="6239828" y="5979438"/>
            <a:ext cx="484346" cy="484346"/>
          </a:xfrm>
          <a:prstGeom prst="roundRect">
            <a:avLst>
              <a:gd name="adj" fmla="val 6667"/>
            </a:avLst>
          </a:prstGeom>
          <a:solidFill>
            <a:srgbClr val="F9F7F7"/>
          </a:solidFill>
          <a:ln/>
        </p:spPr>
      </p:sp>
      <p:sp>
        <p:nvSpPr>
          <p:cNvPr id="13" name="Text 10"/>
          <p:cNvSpPr/>
          <p:nvPr/>
        </p:nvSpPr>
        <p:spPr>
          <a:xfrm>
            <a:off x="6381274" y="6060162"/>
            <a:ext cx="201454" cy="322898"/>
          </a:xfrm>
          <a:prstGeom prst="rect">
            <a:avLst/>
          </a:prstGeom>
          <a:noFill/>
          <a:ln/>
        </p:spPr>
        <p:txBody>
          <a:bodyPr wrap="none" lIns="0" tIns="0" rIns="0" bIns="0" rtlCol="0" anchor="t"/>
          <a:lstStyle/>
          <a:p>
            <a:pPr algn="ctr" indent="0" marL="0">
              <a:lnSpc>
                <a:spcPts val="2500"/>
              </a:lnSpc>
              <a:buNone/>
            </a:pPr>
            <a:r>
              <a:rPr lang="en-US" sz="2500" dirty="0">
                <a:solidFill>
                  <a:srgbClr val="504C49"/>
                </a:solidFill>
                <a:latin typeface="Platypi Medium" pitchFamily="34" charset="0"/>
                <a:ea typeface="Platypi Medium" pitchFamily="34" charset="-122"/>
                <a:cs typeface="Platypi Medium" pitchFamily="34" charset="-120"/>
              </a:rPr>
              <a:t>3</a:t>
            </a:r>
            <a:endParaRPr lang="en-US" sz="2500" dirty="0"/>
          </a:p>
        </p:txBody>
      </p:sp>
      <p:sp>
        <p:nvSpPr>
          <p:cNvPr id="14" name="Text 11"/>
          <p:cNvSpPr/>
          <p:nvPr/>
        </p:nvSpPr>
        <p:spPr>
          <a:xfrm>
            <a:off x="6939439" y="5979438"/>
            <a:ext cx="2690812" cy="336352"/>
          </a:xfrm>
          <a:prstGeom prst="rect">
            <a:avLst/>
          </a:prstGeom>
          <a:noFill/>
          <a:ln/>
        </p:spPr>
        <p:txBody>
          <a:bodyPr wrap="none" lIns="0" tIns="0" rIns="0" bIns="0" rtlCol="0" anchor="t"/>
          <a:lstStyle/>
          <a:p>
            <a:pPr indent="0" marL="0">
              <a:lnSpc>
                <a:spcPts val="2600"/>
              </a:lnSpc>
              <a:buNone/>
            </a:pPr>
            <a:r>
              <a:rPr lang="en-US" sz="2100" dirty="0">
                <a:solidFill>
                  <a:srgbClr val="504C49"/>
                </a:solidFill>
                <a:latin typeface="Platypi Medium" pitchFamily="34" charset="0"/>
                <a:ea typeface="Platypi Medium" pitchFamily="34" charset="-122"/>
                <a:cs typeface="Platypi Medium" pitchFamily="34" charset="-120"/>
              </a:rPr>
              <a:t>Lack of Alerts</a:t>
            </a:r>
            <a:endParaRPr lang="en-US" sz="2100" dirty="0"/>
          </a:p>
        </p:txBody>
      </p:sp>
      <p:sp>
        <p:nvSpPr>
          <p:cNvPr id="15" name="Text 12"/>
          <p:cNvSpPr/>
          <p:nvPr/>
        </p:nvSpPr>
        <p:spPr>
          <a:xfrm>
            <a:off x="6939439" y="6444853"/>
            <a:ext cx="6937534" cy="688658"/>
          </a:xfrm>
          <a:prstGeom prst="rect">
            <a:avLst/>
          </a:prstGeom>
          <a:noFill/>
          <a:ln/>
        </p:spPr>
        <p:txBody>
          <a:bodyPr wrap="square" lIns="0" tIns="0" rIns="0" bIns="0" rtlCol="0" anchor="t"/>
          <a:lstStyle/>
          <a:p>
            <a:pPr indent="0" marL="0">
              <a:lnSpc>
                <a:spcPts val="2700"/>
              </a:lnSpc>
              <a:buNone/>
            </a:pPr>
            <a:r>
              <a:rPr lang="en-US" sz="1650" dirty="0">
                <a:solidFill>
                  <a:srgbClr val="504C49"/>
                </a:solidFill>
                <a:latin typeface="Source Serif Pro" pitchFamily="34" charset="0"/>
                <a:ea typeface="Source Serif Pro" pitchFamily="34" charset="-122"/>
                <a:cs typeface="Source Serif Pro" pitchFamily="34" charset="-120"/>
              </a:rPr>
              <a:t>Commuters have no way to proactively plan for delays or service changes, leading to missed connections.</a:t>
            </a:r>
            <a:endParaRPr lang="en-US"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2185511"/>
            <a:ext cx="13042821" cy="1417558"/>
          </a:xfrm>
          <a:prstGeom prst="rect">
            <a:avLst/>
          </a:prstGeom>
          <a:noFill/>
          <a:ln/>
        </p:spPr>
        <p:txBody>
          <a:bodyPr wrap="square" lIns="0" tIns="0" rIns="0" bIns="0" rtlCol="0" anchor="t"/>
          <a:lstStyle/>
          <a:p>
            <a:pPr indent="0" marL="0">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Proposed Solution: Develop a Mobile App for Haryana Roadways</a:t>
            </a:r>
            <a:endParaRPr lang="en-US" sz="4450" dirty="0"/>
          </a:p>
        </p:txBody>
      </p:sp>
      <p:sp>
        <p:nvSpPr>
          <p:cNvPr id="3" name="Text 1"/>
          <p:cNvSpPr/>
          <p:nvPr/>
        </p:nvSpPr>
        <p:spPr>
          <a:xfrm>
            <a:off x="793790" y="4170045"/>
            <a:ext cx="2835235" cy="354330"/>
          </a:xfrm>
          <a:prstGeom prst="rect">
            <a:avLst/>
          </a:prstGeom>
          <a:noFill/>
          <a:ln/>
        </p:spPr>
        <p:txBody>
          <a:bodyPr wrap="none" lIns="0" tIns="0" rIns="0" bIns="0" rtlCol="0" anchor="t"/>
          <a:lstStyle/>
          <a:p>
            <a:pPr indent="0" marL="0">
              <a:lnSpc>
                <a:spcPts val="2750"/>
              </a:lnSpc>
              <a:buNone/>
            </a:pPr>
            <a:r>
              <a:rPr lang="en-US" sz="2200" dirty="0">
                <a:solidFill>
                  <a:srgbClr val="201B18"/>
                </a:solidFill>
                <a:latin typeface="Platypi Medium" pitchFamily="34" charset="0"/>
                <a:ea typeface="Platypi Medium" pitchFamily="34" charset="-122"/>
                <a:cs typeface="Platypi Medium" pitchFamily="34" charset="-120"/>
              </a:rPr>
              <a:t>Real-Time Tracking</a:t>
            </a:r>
            <a:endParaRPr lang="en-US" sz="2200" dirty="0"/>
          </a:p>
        </p:txBody>
      </p:sp>
      <p:sp>
        <p:nvSpPr>
          <p:cNvPr id="4" name="Text 2"/>
          <p:cNvSpPr/>
          <p:nvPr/>
        </p:nvSpPr>
        <p:spPr>
          <a:xfrm>
            <a:off x="793790" y="4751189"/>
            <a:ext cx="3978116" cy="1088708"/>
          </a:xfrm>
          <a:prstGeom prst="rect">
            <a:avLst/>
          </a:prstGeom>
          <a:noFill/>
          <a:ln/>
        </p:spPr>
        <p:txBody>
          <a:bodyPr wrap="square" lIns="0" tIns="0" rIns="0" bIns="0" rtlCol="0" anchor="t"/>
          <a:lstStyle/>
          <a:p>
            <a:pPr indent="0" marL="0">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Users can view the live location of buses on a map, allowing them to time their arrivals.</a:t>
            </a:r>
            <a:endParaRPr lang="en-US" sz="1750" dirty="0"/>
          </a:p>
        </p:txBody>
      </p:sp>
      <p:sp>
        <p:nvSpPr>
          <p:cNvPr id="5" name="Text 3"/>
          <p:cNvSpPr/>
          <p:nvPr/>
        </p:nvSpPr>
        <p:spPr>
          <a:xfrm>
            <a:off x="5332928" y="4170045"/>
            <a:ext cx="2835235" cy="354330"/>
          </a:xfrm>
          <a:prstGeom prst="rect">
            <a:avLst/>
          </a:prstGeom>
          <a:noFill/>
          <a:ln/>
        </p:spPr>
        <p:txBody>
          <a:bodyPr wrap="none" lIns="0" tIns="0" rIns="0" bIns="0" rtlCol="0" anchor="t"/>
          <a:lstStyle/>
          <a:p>
            <a:pPr indent="0" marL="0">
              <a:lnSpc>
                <a:spcPts val="2750"/>
              </a:lnSpc>
              <a:buNone/>
            </a:pPr>
            <a:r>
              <a:rPr lang="en-US" sz="2200" dirty="0">
                <a:solidFill>
                  <a:srgbClr val="201B18"/>
                </a:solidFill>
                <a:latin typeface="Platypi Medium" pitchFamily="34" charset="0"/>
                <a:ea typeface="Platypi Medium" pitchFamily="34" charset="-122"/>
                <a:cs typeface="Platypi Medium" pitchFamily="34" charset="-120"/>
              </a:rPr>
              <a:t>Route Planning</a:t>
            </a:r>
            <a:endParaRPr lang="en-US" sz="2200" dirty="0"/>
          </a:p>
        </p:txBody>
      </p:sp>
      <p:sp>
        <p:nvSpPr>
          <p:cNvPr id="6" name="Text 4"/>
          <p:cNvSpPr/>
          <p:nvPr/>
        </p:nvSpPr>
        <p:spPr>
          <a:xfrm>
            <a:off x="5332928" y="4751189"/>
            <a:ext cx="3978116" cy="1088708"/>
          </a:xfrm>
          <a:prstGeom prst="rect">
            <a:avLst/>
          </a:prstGeom>
          <a:noFill/>
          <a:ln/>
        </p:spPr>
        <p:txBody>
          <a:bodyPr wrap="square" lIns="0" tIns="0" rIns="0" bIns="0" rtlCol="0" anchor="t"/>
          <a:lstStyle/>
          <a:p>
            <a:pPr indent="0" marL="0">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Detailed route information and schedules make it easy to plan the best journeys.</a:t>
            </a:r>
            <a:endParaRPr lang="en-US" sz="1750" dirty="0"/>
          </a:p>
        </p:txBody>
      </p:sp>
      <p:sp>
        <p:nvSpPr>
          <p:cNvPr id="7" name="Text 5"/>
          <p:cNvSpPr/>
          <p:nvPr/>
        </p:nvSpPr>
        <p:spPr>
          <a:xfrm>
            <a:off x="9872067" y="4170045"/>
            <a:ext cx="2835235" cy="354330"/>
          </a:xfrm>
          <a:prstGeom prst="rect">
            <a:avLst/>
          </a:prstGeom>
          <a:noFill/>
          <a:ln/>
        </p:spPr>
        <p:txBody>
          <a:bodyPr wrap="none" lIns="0" tIns="0" rIns="0" bIns="0" rtlCol="0" anchor="t"/>
          <a:lstStyle/>
          <a:p>
            <a:pPr indent="0" marL="0">
              <a:lnSpc>
                <a:spcPts val="2750"/>
              </a:lnSpc>
              <a:buNone/>
            </a:pPr>
            <a:r>
              <a:rPr lang="en-US" sz="2200" dirty="0">
                <a:solidFill>
                  <a:srgbClr val="201B18"/>
                </a:solidFill>
                <a:latin typeface="Platypi Medium" pitchFamily="34" charset="0"/>
                <a:ea typeface="Platypi Medium" pitchFamily="34" charset="-122"/>
                <a:cs typeface="Platypi Medium" pitchFamily="34" charset="-120"/>
              </a:rPr>
              <a:t>Service Alerts</a:t>
            </a:r>
            <a:endParaRPr lang="en-US" sz="2200" dirty="0"/>
          </a:p>
        </p:txBody>
      </p:sp>
      <p:sp>
        <p:nvSpPr>
          <p:cNvPr id="8" name="Text 6"/>
          <p:cNvSpPr/>
          <p:nvPr/>
        </p:nvSpPr>
        <p:spPr>
          <a:xfrm>
            <a:off x="9872067" y="4751189"/>
            <a:ext cx="3978116" cy="1088708"/>
          </a:xfrm>
          <a:prstGeom prst="rect">
            <a:avLst/>
          </a:prstGeom>
          <a:noFill/>
          <a:ln/>
        </p:spPr>
        <p:txBody>
          <a:bodyPr wrap="square" lIns="0" tIns="0" rIns="0" bIns="0" rtlCol="0" anchor="t"/>
          <a:lstStyle/>
          <a:p>
            <a:pPr indent="0" marL="0">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Proactive notifications about delays, detours or service changes help commuters adjust plans.</a:t>
            </a:r>
            <a:endParaRPr lang="en-US" sz="1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05326" y="592217"/>
            <a:ext cx="7733348" cy="1889522"/>
          </a:xfrm>
          <a:prstGeom prst="rect">
            <a:avLst/>
          </a:prstGeom>
          <a:noFill/>
          <a:ln/>
        </p:spPr>
        <p:txBody>
          <a:bodyPr wrap="square" lIns="0" tIns="0" rIns="0" bIns="0" rtlCol="0" anchor="t"/>
          <a:lstStyle/>
          <a:p>
            <a:pPr indent="0" marL="0">
              <a:lnSpc>
                <a:spcPts val="4950"/>
              </a:lnSpc>
              <a:buNone/>
            </a:pPr>
            <a:r>
              <a:rPr lang="en-US" sz="3950" dirty="0">
                <a:solidFill>
                  <a:srgbClr val="201B18"/>
                </a:solidFill>
                <a:latin typeface="Platypi Medium" pitchFamily="34" charset="0"/>
                <a:ea typeface="Platypi Medium" pitchFamily="34" charset="-122"/>
                <a:cs typeface="Platypi Medium" pitchFamily="34" charset="-120"/>
              </a:rPr>
              <a:t>Key Features: Real-Time Bus Tracking, Route Information, Schedules, and Alerts</a:t>
            </a:r>
            <a:endParaRPr lang="en-US" sz="3950" dirty="0"/>
          </a:p>
        </p:txBody>
      </p:sp>
      <p:sp>
        <p:nvSpPr>
          <p:cNvPr id="4" name="Shape 1"/>
          <p:cNvSpPr/>
          <p:nvPr/>
        </p:nvSpPr>
        <p:spPr>
          <a:xfrm>
            <a:off x="996077" y="2783919"/>
            <a:ext cx="22860" cy="4853464"/>
          </a:xfrm>
          <a:prstGeom prst="roundRect">
            <a:avLst>
              <a:gd name="adj" fmla="val 132236"/>
            </a:avLst>
          </a:prstGeom>
          <a:solidFill>
            <a:srgbClr val="D8D4D4"/>
          </a:solidFill>
          <a:ln/>
        </p:spPr>
      </p:sp>
      <p:sp>
        <p:nvSpPr>
          <p:cNvPr id="5" name="Shape 2"/>
          <p:cNvSpPr/>
          <p:nvPr/>
        </p:nvSpPr>
        <p:spPr>
          <a:xfrm>
            <a:off x="1211342" y="3225879"/>
            <a:ext cx="705326" cy="22860"/>
          </a:xfrm>
          <a:prstGeom prst="roundRect">
            <a:avLst>
              <a:gd name="adj" fmla="val 132236"/>
            </a:avLst>
          </a:prstGeom>
          <a:solidFill>
            <a:srgbClr val="D8D4D4"/>
          </a:solidFill>
          <a:ln/>
        </p:spPr>
      </p:sp>
      <p:sp>
        <p:nvSpPr>
          <p:cNvPr id="6" name="Shape 3"/>
          <p:cNvSpPr/>
          <p:nvPr/>
        </p:nvSpPr>
        <p:spPr>
          <a:xfrm>
            <a:off x="780812" y="3010614"/>
            <a:ext cx="453390" cy="453390"/>
          </a:xfrm>
          <a:prstGeom prst="roundRect">
            <a:avLst>
              <a:gd name="adj" fmla="val 6667"/>
            </a:avLst>
          </a:prstGeom>
          <a:solidFill>
            <a:srgbClr val="F9F7F7"/>
          </a:solidFill>
          <a:ln/>
        </p:spPr>
      </p:sp>
      <p:sp>
        <p:nvSpPr>
          <p:cNvPr id="7" name="Text 4"/>
          <p:cNvSpPr/>
          <p:nvPr/>
        </p:nvSpPr>
        <p:spPr>
          <a:xfrm>
            <a:off x="939641" y="3086100"/>
            <a:ext cx="135731" cy="302300"/>
          </a:xfrm>
          <a:prstGeom prst="rect">
            <a:avLst/>
          </a:prstGeom>
          <a:noFill/>
          <a:ln/>
        </p:spPr>
        <p:txBody>
          <a:bodyPr wrap="none" lIns="0" tIns="0" rIns="0" bIns="0" rtlCol="0" anchor="t"/>
          <a:lstStyle/>
          <a:p>
            <a:pPr algn="ctr" indent="0" marL="0">
              <a:lnSpc>
                <a:spcPts val="2350"/>
              </a:lnSpc>
              <a:buNone/>
            </a:pPr>
            <a:r>
              <a:rPr lang="en-US" sz="2350" dirty="0">
                <a:solidFill>
                  <a:srgbClr val="504C49"/>
                </a:solidFill>
                <a:latin typeface="Platypi Medium" pitchFamily="34" charset="0"/>
                <a:ea typeface="Platypi Medium" pitchFamily="34" charset="-122"/>
                <a:cs typeface="Platypi Medium" pitchFamily="34" charset="-120"/>
              </a:rPr>
              <a:t>1</a:t>
            </a:r>
            <a:endParaRPr lang="en-US" sz="2350" dirty="0"/>
          </a:p>
        </p:txBody>
      </p:sp>
      <p:sp>
        <p:nvSpPr>
          <p:cNvPr id="8" name="Text 5"/>
          <p:cNvSpPr/>
          <p:nvPr/>
        </p:nvSpPr>
        <p:spPr>
          <a:xfrm>
            <a:off x="2115860" y="2985373"/>
            <a:ext cx="2519005" cy="314920"/>
          </a:xfrm>
          <a:prstGeom prst="rect">
            <a:avLst/>
          </a:prstGeom>
          <a:noFill/>
          <a:ln/>
        </p:spPr>
        <p:txBody>
          <a:bodyPr wrap="none" lIns="0" tIns="0" rIns="0" bIns="0" rtlCol="0" anchor="t"/>
          <a:lstStyle/>
          <a:p>
            <a:pPr algn="l" indent="0" marL="0">
              <a:lnSpc>
                <a:spcPts val="2450"/>
              </a:lnSpc>
              <a:buNone/>
            </a:pPr>
            <a:r>
              <a:rPr lang="en-US" sz="1950" dirty="0">
                <a:solidFill>
                  <a:srgbClr val="504C49"/>
                </a:solidFill>
                <a:latin typeface="Platypi Medium" pitchFamily="34" charset="0"/>
                <a:ea typeface="Platypi Medium" pitchFamily="34" charset="-122"/>
                <a:cs typeface="Platypi Medium" pitchFamily="34" charset="-120"/>
              </a:rPr>
              <a:t>Live Bus Locations</a:t>
            </a:r>
            <a:endParaRPr lang="en-US" sz="1950" dirty="0"/>
          </a:p>
        </p:txBody>
      </p:sp>
      <p:sp>
        <p:nvSpPr>
          <p:cNvPr id="9" name="Text 6"/>
          <p:cNvSpPr/>
          <p:nvPr/>
        </p:nvSpPr>
        <p:spPr>
          <a:xfrm>
            <a:off x="2115860" y="3421142"/>
            <a:ext cx="6322814" cy="644843"/>
          </a:xfrm>
          <a:prstGeom prst="rect">
            <a:avLst/>
          </a:prstGeom>
          <a:noFill/>
          <a:ln/>
        </p:spPr>
        <p:txBody>
          <a:bodyPr wrap="square" lIns="0" tIns="0" rIns="0" bIns="0" rtlCol="0" anchor="t"/>
          <a:lstStyle/>
          <a:p>
            <a:pPr algn="l" indent="0" marL="0">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Commuters can see the real-time position of buses on a map, allowing them to time their arrivals.</a:t>
            </a:r>
            <a:endParaRPr lang="en-US" sz="1550" dirty="0"/>
          </a:p>
        </p:txBody>
      </p:sp>
      <p:sp>
        <p:nvSpPr>
          <p:cNvPr id="10" name="Shape 7"/>
          <p:cNvSpPr/>
          <p:nvPr/>
        </p:nvSpPr>
        <p:spPr>
          <a:xfrm>
            <a:off x="1211342" y="4910852"/>
            <a:ext cx="705326" cy="22860"/>
          </a:xfrm>
          <a:prstGeom prst="roundRect">
            <a:avLst>
              <a:gd name="adj" fmla="val 132236"/>
            </a:avLst>
          </a:prstGeom>
          <a:solidFill>
            <a:srgbClr val="D8D4D4"/>
          </a:solidFill>
          <a:ln/>
        </p:spPr>
      </p:sp>
      <p:sp>
        <p:nvSpPr>
          <p:cNvPr id="11" name="Shape 8"/>
          <p:cNvSpPr/>
          <p:nvPr/>
        </p:nvSpPr>
        <p:spPr>
          <a:xfrm>
            <a:off x="780812" y="4695587"/>
            <a:ext cx="453390" cy="453390"/>
          </a:xfrm>
          <a:prstGeom prst="roundRect">
            <a:avLst>
              <a:gd name="adj" fmla="val 6667"/>
            </a:avLst>
          </a:prstGeom>
          <a:solidFill>
            <a:srgbClr val="F9F7F7"/>
          </a:solidFill>
          <a:ln/>
        </p:spPr>
      </p:sp>
      <p:sp>
        <p:nvSpPr>
          <p:cNvPr id="12" name="Text 9"/>
          <p:cNvSpPr/>
          <p:nvPr/>
        </p:nvSpPr>
        <p:spPr>
          <a:xfrm>
            <a:off x="909876" y="4771073"/>
            <a:ext cx="195263" cy="302300"/>
          </a:xfrm>
          <a:prstGeom prst="rect">
            <a:avLst/>
          </a:prstGeom>
          <a:noFill/>
          <a:ln/>
        </p:spPr>
        <p:txBody>
          <a:bodyPr wrap="none" lIns="0" tIns="0" rIns="0" bIns="0" rtlCol="0" anchor="t"/>
          <a:lstStyle/>
          <a:p>
            <a:pPr algn="ctr" indent="0" marL="0">
              <a:lnSpc>
                <a:spcPts val="2350"/>
              </a:lnSpc>
              <a:buNone/>
            </a:pPr>
            <a:r>
              <a:rPr lang="en-US" sz="2350" dirty="0">
                <a:solidFill>
                  <a:srgbClr val="504C49"/>
                </a:solidFill>
                <a:latin typeface="Platypi Medium" pitchFamily="34" charset="0"/>
                <a:ea typeface="Platypi Medium" pitchFamily="34" charset="-122"/>
                <a:cs typeface="Platypi Medium" pitchFamily="34" charset="-120"/>
              </a:rPr>
              <a:t>2</a:t>
            </a:r>
            <a:endParaRPr lang="en-US" sz="2350" dirty="0"/>
          </a:p>
        </p:txBody>
      </p:sp>
      <p:sp>
        <p:nvSpPr>
          <p:cNvPr id="13" name="Text 10"/>
          <p:cNvSpPr/>
          <p:nvPr/>
        </p:nvSpPr>
        <p:spPr>
          <a:xfrm>
            <a:off x="2115860" y="4670346"/>
            <a:ext cx="2519005" cy="314920"/>
          </a:xfrm>
          <a:prstGeom prst="rect">
            <a:avLst/>
          </a:prstGeom>
          <a:noFill/>
          <a:ln/>
        </p:spPr>
        <p:txBody>
          <a:bodyPr wrap="none" lIns="0" tIns="0" rIns="0" bIns="0" rtlCol="0" anchor="t"/>
          <a:lstStyle/>
          <a:p>
            <a:pPr algn="l" indent="0" marL="0">
              <a:lnSpc>
                <a:spcPts val="2450"/>
              </a:lnSpc>
              <a:buNone/>
            </a:pPr>
            <a:r>
              <a:rPr lang="en-US" sz="1950" dirty="0">
                <a:solidFill>
                  <a:srgbClr val="504C49"/>
                </a:solidFill>
                <a:latin typeface="Platypi Medium" pitchFamily="34" charset="0"/>
                <a:ea typeface="Platypi Medium" pitchFamily="34" charset="-122"/>
                <a:cs typeface="Platypi Medium" pitchFamily="34" charset="-120"/>
              </a:rPr>
              <a:t>Route Details</a:t>
            </a:r>
            <a:endParaRPr lang="en-US" sz="1950" dirty="0"/>
          </a:p>
        </p:txBody>
      </p:sp>
      <p:sp>
        <p:nvSpPr>
          <p:cNvPr id="14" name="Text 11"/>
          <p:cNvSpPr/>
          <p:nvPr/>
        </p:nvSpPr>
        <p:spPr>
          <a:xfrm>
            <a:off x="2115860" y="5106114"/>
            <a:ext cx="6322814" cy="644843"/>
          </a:xfrm>
          <a:prstGeom prst="rect">
            <a:avLst/>
          </a:prstGeom>
          <a:noFill/>
          <a:ln/>
        </p:spPr>
        <p:txBody>
          <a:bodyPr wrap="square" lIns="0" tIns="0" rIns="0" bIns="0" rtlCol="0" anchor="t"/>
          <a:lstStyle/>
          <a:p>
            <a:pPr algn="l" indent="0" marL="0">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Comprehensive route information, including pickup/drop-off points and estimated travel times.</a:t>
            </a:r>
            <a:endParaRPr lang="en-US" sz="1550" dirty="0"/>
          </a:p>
        </p:txBody>
      </p:sp>
      <p:sp>
        <p:nvSpPr>
          <p:cNvPr id="15" name="Shape 12"/>
          <p:cNvSpPr/>
          <p:nvPr/>
        </p:nvSpPr>
        <p:spPr>
          <a:xfrm>
            <a:off x="1211342" y="6595824"/>
            <a:ext cx="705326" cy="22860"/>
          </a:xfrm>
          <a:prstGeom prst="roundRect">
            <a:avLst>
              <a:gd name="adj" fmla="val 132236"/>
            </a:avLst>
          </a:prstGeom>
          <a:solidFill>
            <a:srgbClr val="D8D4D4"/>
          </a:solidFill>
          <a:ln/>
        </p:spPr>
      </p:sp>
      <p:sp>
        <p:nvSpPr>
          <p:cNvPr id="16" name="Shape 13"/>
          <p:cNvSpPr/>
          <p:nvPr/>
        </p:nvSpPr>
        <p:spPr>
          <a:xfrm>
            <a:off x="780812" y="6380559"/>
            <a:ext cx="453390" cy="453390"/>
          </a:xfrm>
          <a:prstGeom prst="roundRect">
            <a:avLst>
              <a:gd name="adj" fmla="val 6667"/>
            </a:avLst>
          </a:prstGeom>
          <a:solidFill>
            <a:srgbClr val="F9F7F7"/>
          </a:solidFill>
          <a:ln/>
        </p:spPr>
      </p:sp>
      <p:sp>
        <p:nvSpPr>
          <p:cNvPr id="17" name="Text 14"/>
          <p:cNvSpPr/>
          <p:nvPr/>
        </p:nvSpPr>
        <p:spPr>
          <a:xfrm>
            <a:off x="913209" y="6456045"/>
            <a:ext cx="188595" cy="302300"/>
          </a:xfrm>
          <a:prstGeom prst="rect">
            <a:avLst/>
          </a:prstGeom>
          <a:noFill/>
          <a:ln/>
        </p:spPr>
        <p:txBody>
          <a:bodyPr wrap="none" lIns="0" tIns="0" rIns="0" bIns="0" rtlCol="0" anchor="t"/>
          <a:lstStyle/>
          <a:p>
            <a:pPr algn="ctr" indent="0" marL="0">
              <a:lnSpc>
                <a:spcPts val="2350"/>
              </a:lnSpc>
              <a:buNone/>
            </a:pPr>
            <a:r>
              <a:rPr lang="en-US" sz="2350" dirty="0">
                <a:solidFill>
                  <a:srgbClr val="504C49"/>
                </a:solidFill>
                <a:latin typeface="Platypi Medium" pitchFamily="34" charset="0"/>
                <a:ea typeface="Platypi Medium" pitchFamily="34" charset="-122"/>
                <a:cs typeface="Platypi Medium" pitchFamily="34" charset="-120"/>
              </a:rPr>
              <a:t>3</a:t>
            </a:r>
            <a:endParaRPr lang="en-US" sz="2350" dirty="0"/>
          </a:p>
        </p:txBody>
      </p:sp>
      <p:sp>
        <p:nvSpPr>
          <p:cNvPr id="18" name="Text 15"/>
          <p:cNvSpPr/>
          <p:nvPr/>
        </p:nvSpPr>
        <p:spPr>
          <a:xfrm>
            <a:off x="2115860" y="6355318"/>
            <a:ext cx="2519005" cy="314920"/>
          </a:xfrm>
          <a:prstGeom prst="rect">
            <a:avLst/>
          </a:prstGeom>
          <a:noFill/>
          <a:ln/>
        </p:spPr>
        <p:txBody>
          <a:bodyPr wrap="none" lIns="0" tIns="0" rIns="0" bIns="0" rtlCol="0" anchor="t"/>
          <a:lstStyle/>
          <a:p>
            <a:pPr algn="l" indent="0" marL="0">
              <a:lnSpc>
                <a:spcPts val="2450"/>
              </a:lnSpc>
              <a:buNone/>
            </a:pPr>
            <a:r>
              <a:rPr lang="en-US" sz="1950" dirty="0">
                <a:solidFill>
                  <a:srgbClr val="504C49"/>
                </a:solidFill>
                <a:latin typeface="Platypi Medium" pitchFamily="34" charset="0"/>
                <a:ea typeface="Platypi Medium" pitchFamily="34" charset="-122"/>
                <a:cs typeface="Platypi Medium" pitchFamily="34" charset="-120"/>
              </a:rPr>
              <a:t>Schedules &amp; Alerts</a:t>
            </a:r>
            <a:endParaRPr lang="en-US" sz="1950" dirty="0"/>
          </a:p>
        </p:txBody>
      </p:sp>
      <p:sp>
        <p:nvSpPr>
          <p:cNvPr id="19" name="Text 16"/>
          <p:cNvSpPr/>
          <p:nvPr/>
        </p:nvSpPr>
        <p:spPr>
          <a:xfrm>
            <a:off x="2115860" y="6791087"/>
            <a:ext cx="6322814" cy="644843"/>
          </a:xfrm>
          <a:prstGeom prst="rect">
            <a:avLst/>
          </a:prstGeom>
          <a:noFill/>
          <a:ln/>
        </p:spPr>
        <p:txBody>
          <a:bodyPr wrap="square" lIns="0" tIns="0" rIns="0" bIns="0" rtlCol="0" anchor="t"/>
          <a:lstStyle/>
          <a:p>
            <a:pPr algn="l" indent="0" marL="0">
              <a:lnSpc>
                <a:spcPts val="2500"/>
              </a:lnSpc>
              <a:buNone/>
            </a:pPr>
            <a:r>
              <a:rPr lang="en-US" sz="1550" dirty="0">
                <a:solidFill>
                  <a:srgbClr val="504C49"/>
                </a:solidFill>
                <a:latin typeface="Source Serif Pro" pitchFamily="34" charset="0"/>
                <a:ea typeface="Source Serif Pro" pitchFamily="34" charset="-122"/>
                <a:cs typeface="Source Serif Pro" pitchFamily="34" charset="-120"/>
              </a:rPr>
              <a:t>Access to bus schedules and proactive notifications about delays, detours or service changes.</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644843" y="553045"/>
            <a:ext cx="7854315" cy="1727359"/>
          </a:xfrm>
          <a:prstGeom prst="rect">
            <a:avLst/>
          </a:prstGeom>
          <a:noFill/>
          <a:ln/>
        </p:spPr>
        <p:txBody>
          <a:bodyPr wrap="square" lIns="0" tIns="0" rIns="0" bIns="0" rtlCol="0" anchor="t"/>
          <a:lstStyle/>
          <a:p>
            <a:pPr indent="0" marL="0">
              <a:lnSpc>
                <a:spcPts val="4500"/>
              </a:lnSpc>
              <a:buNone/>
            </a:pPr>
            <a:r>
              <a:rPr lang="en-US" sz="3600" dirty="0">
                <a:solidFill>
                  <a:srgbClr val="201B18"/>
                </a:solidFill>
                <a:latin typeface="Platypi Medium" pitchFamily="34" charset="0"/>
                <a:ea typeface="Platypi Medium" pitchFamily="34" charset="-122"/>
                <a:cs typeface="Platypi Medium" pitchFamily="34" charset="-120"/>
              </a:rPr>
              <a:t>Technology Stack: Leveraging GPS, APIs, and Mobile Development Frameworks</a:t>
            </a:r>
            <a:endParaRPr lang="en-US" sz="3600" dirty="0"/>
          </a:p>
        </p:txBody>
      </p:sp>
      <p:pic>
        <p:nvPicPr>
          <p:cNvPr id="4" name="Image 1" descr="preencoded.png">    </p:cNvPr>
          <p:cNvPicPr>
            <a:picLocks noChangeAspect="1"/>
          </p:cNvPicPr>
          <p:nvPr/>
        </p:nvPicPr>
        <p:blipFill>
          <a:blip r:embed="rId2"/>
          <a:stretch>
            <a:fillRect/>
          </a:stretch>
        </p:blipFill>
        <p:spPr>
          <a:xfrm>
            <a:off x="644843" y="2556748"/>
            <a:ext cx="460653" cy="460653"/>
          </a:xfrm>
          <a:prstGeom prst="rect">
            <a:avLst/>
          </a:prstGeom>
        </p:spPr>
      </p:pic>
      <p:sp>
        <p:nvSpPr>
          <p:cNvPr id="5" name="Text 1"/>
          <p:cNvSpPr/>
          <p:nvPr/>
        </p:nvSpPr>
        <p:spPr>
          <a:xfrm>
            <a:off x="644843" y="3201591"/>
            <a:ext cx="2303264" cy="287893"/>
          </a:xfrm>
          <a:prstGeom prst="rect">
            <a:avLst/>
          </a:prstGeom>
          <a:noFill/>
          <a:ln/>
        </p:spPr>
        <p:txBody>
          <a:bodyPr wrap="none" lIns="0" tIns="0" rIns="0" bIns="0" rtlCol="0" anchor="t"/>
          <a:lstStyle/>
          <a:p>
            <a:pPr algn="l" indent="0" marL="0">
              <a:lnSpc>
                <a:spcPts val="2250"/>
              </a:lnSpc>
              <a:buNone/>
            </a:pPr>
            <a:r>
              <a:rPr lang="en-US" sz="1800" dirty="0">
                <a:solidFill>
                  <a:srgbClr val="504C49"/>
                </a:solidFill>
                <a:latin typeface="Platypi Medium" pitchFamily="34" charset="0"/>
                <a:ea typeface="Platypi Medium" pitchFamily="34" charset="-122"/>
                <a:cs typeface="Platypi Medium" pitchFamily="34" charset="-120"/>
              </a:rPr>
              <a:t>GPS Tracking</a:t>
            </a:r>
            <a:endParaRPr lang="en-US" sz="1800" dirty="0"/>
          </a:p>
        </p:txBody>
      </p:sp>
      <p:sp>
        <p:nvSpPr>
          <p:cNvPr id="6" name="Text 2"/>
          <p:cNvSpPr/>
          <p:nvPr/>
        </p:nvSpPr>
        <p:spPr>
          <a:xfrm>
            <a:off x="644843" y="3599974"/>
            <a:ext cx="7854315" cy="294799"/>
          </a:xfrm>
          <a:prstGeom prst="rect">
            <a:avLst/>
          </a:prstGeom>
          <a:noFill/>
          <a:ln/>
        </p:spPr>
        <p:txBody>
          <a:bodyPr wrap="none" lIns="0" tIns="0" rIns="0" bIns="0" rtlCol="0" anchor="t"/>
          <a:lstStyle/>
          <a:p>
            <a:pPr algn="l" indent="0" marL="0">
              <a:lnSpc>
                <a:spcPts val="2300"/>
              </a:lnSpc>
              <a:buNone/>
            </a:pPr>
            <a:r>
              <a:rPr lang="en-US" sz="1450" dirty="0">
                <a:solidFill>
                  <a:srgbClr val="504C49"/>
                </a:solidFill>
                <a:latin typeface="Source Serif Pro" pitchFamily="34" charset="0"/>
                <a:ea typeface="Source Serif Pro" pitchFamily="34" charset="-122"/>
                <a:cs typeface="Source Serif Pro" pitchFamily="34" charset="-120"/>
              </a:rPr>
              <a:t>Real-time bus locations are captured using GPS technology.</a:t>
            </a:r>
            <a:endParaRPr lang="en-US" sz="1450" dirty="0"/>
          </a:p>
        </p:txBody>
      </p:sp>
      <p:pic>
        <p:nvPicPr>
          <p:cNvPr id="7" name="Image 2" descr="preencoded.png">    </p:cNvPr>
          <p:cNvPicPr>
            <a:picLocks noChangeAspect="1"/>
          </p:cNvPicPr>
          <p:nvPr/>
        </p:nvPicPr>
        <p:blipFill>
          <a:blip r:embed="rId3"/>
          <a:stretch>
            <a:fillRect/>
          </a:stretch>
        </p:blipFill>
        <p:spPr>
          <a:xfrm>
            <a:off x="644843" y="4447580"/>
            <a:ext cx="460653" cy="460653"/>
          </a:xfrm>
          <a:prstGeom prst="rect">
            <a:avLst/>
          </a:prstGeom>
        </p:spPr>
      </p:pic>
      <p:sp>
        <p:nvSpPr>
          <p:cNvPr id="8" name="Text 3"/>
          <p:cNvSpPr/>
          <p:nvPr/>
        </p:nvSpPr>
        <p:spPr>
          <a:xfrm>
            <a:off x="644843" y="5092422"/>
            <a:ext cx="2303264" cy="287893"/>
          </a:xfrm>
          <a:prstGeom prst="rect">
            <a:avLst/>
          </a:prstGeom>
          <a:noFill/>
          <a:ln/>
        </p:spPr>
        <p:txBody>
          <a:bodyPr wrap="none" lIns="0" tIns="0" rIns="0" bIns="0" rtlCol="0" anchor="t"/>
          <a:lstStyle/>
          <a:p>
            <a:pPr algn="l" indent="0" marL="0">
              <a:lnSpc>
                <a:spcPts val="2250"/>
              </a:lnSpc>
              <a:buNone/>
            </a:pPr>
            <a:r>
              <a:rPr lang="en-US" sz="1800" dirty="0">
                <a:solidFill>
                  <a:srgbClr val="504C49"/>
                </a:solidFill>
                <a:latin typeface="Platypi Medium" pitchFamily="34" charset="0"/>
                <a:ea typeface="Platypi Medium" pitchFamily="34" charset="-122"/>
                <a:cs typeface="Platypi Medium" pitchFamily="34" charset="-120"/>
              </a:rPr>
              <a:t>API Integration</a:t>
            </a:r>
            <a:endParaRPr lang="en-US" sz="1800" dirty="0"/>
          </a:p>
        </p:txBody>
      </p:sp>
      <p:sp>
        <p:nvSpPr>
          <p:cNvPr id="9" name="Text 4"/>
          <p:cNvSpPr/>
          <p:nvPr/>
        </p:nvSpPr>
        <p:spPr>
          <a:xfrm>
            <a:off x="644843" y="5490805"/>
            <a:ext cx="7854315" cy="294799"/>
          </a:xfrm>
          <a:prstGeom prst="rect">
            <a:avLst/>
          </a:prstGeom>
          <a:noFill/>
          <a:ln/>
        </p:spPr>
        <p:txBody>
          <a:bodyPr wrap="none" lIns="0" tIns="0" rIns="0" bIns="0" rtlCol="0" anchor="t"/>
          <a:lstStyle/>
          <a:p>
            <a:pPr algn="l" indent="0" marL="0">
              <a:lnSpc>
                <a:spcPts val="2300"/>
              </a:lnSpc>
              <a:buNone/>
            </a:pPr>
            <a:r>
              <a:rPr lang="en-US" sz="1450" dirty="0">
                <a:solidFill>
                  <a:srgbClr val="504C49"/>
                </a:solidFill>
                <a:latin typeface="Source Serif Pro" pitchFamily="34" charset="0"/>
                <a:ea typeface="Source Serif Pro" pitchFamily="34" charset="-122"/>
                <a:cs typeface="Source Serif Pro" pitchFamily="34" charset="-120"/>
              </a:rPr>
              <a:t>The app connects to Haryana Roadways' APIs to fetch route, schedule and service data.</a:t>
            </a:r>
            <a:endParaRPr lang="en-US" sz="1450" dirty="0"/>
          </a:p>
        </p:txBody>
      </p:sp>
      <p:pic>
        <p:nvPicPr>
          <p:cNvPr id="10" name="Image 3" descr="preencoded.png">    </p:cNvPr>
          <p:cNvPicPr>
            <a:picLocks noChangeAspect="1"/>
          </p:cNvPicPr>
          <p:nvPr/>
        </p:nvPicPr>
        <p:blipFill>
          <a:blip r:embed="rId4"/>
          <a:stretch>
            <a:fillRect/>
          </a:stretch>
        </p:blipFill>
        <p:spPr>
          <a:xfrm>
            <a:off x="644843" y="6338411"/>
            <a:ext cx="460653" cy="460653"/>
          </a:xfrm>
          <a:prstGeom prst="rect">
            <a:avLst/>
          </a:prstGeom>
        </p:spPr>
      </p:pic>
      <p:sp>
        <p:nvSpPr>
          <p:cNvPr id="11" name="Text 5"/>
          <p:cNvSpPr/>
          <p:nvPr/>
        </p:nvSpPr>
        <p:spPr>
          <a:xfrm>
            <a:off x="644843" y="6983254"/>
            <a:ext cx="2303264" cy="287893"/>
          </a:xfrm>
          <a:prstGeom prst="rect">
            <a:avLst/>
          </a:prstGeom>
          <a:noFill/>
          <a:ln/>
        </p:spPr>
        <p:txBody>
          <a:bodyPr wrap="none" lIns="0" tIns="0" rIns="0" bIns="0" rtlCol="0" anchor="t"/>
          <a:lstStyle/>
          <a:p>
            <a:pPr algn="l" indent="0" marL="0">
              <a:lnSpc>
                <a:spcPts val="2250"/>
              </a:lnSpc>
              <a:buNone/>
            </a:pPr>
            <a:r>
              <a:rPr lang="en-US" sz="1800" dirty="0">
                <a:solidFill>
                  <a:srgbClr val="504C49"/>
                </a:solidFill>
                <a:latin typeface="Platypi Medium" pitchFamily="34" charset="0"/>
                <a:ea typeface="Platypi Medium" pitchFamily="34" charset="-122"/>
                <a:cs typeface="Platypi Medium" pitchFamily="34" charset="-120"/>
              </a:rPr>
              <a:t>Mobile Frameworks</a:t>
            </a:r>
            <a:endParaRPr lang="en-US" sz="1800" dirty="0"/>
          </a:p>
        </p:txBody>
      </p:sp>
      <p:sp>
        <p:nvSpPr>
          <p:cNvPr id="12" name="Text 6"/>
          <p:cNvSpPr/>
          <p:nvPr/>
        </p:nvSpPr>
        <p:spPr>
          <a:xfrm>
            <a:off x="644843" y="7381637"/>
            <a:ext cx="7854315" cy="294799"/>
          </a:xfrm>
          <a:prstGeom prst="rect">
            <a:avLst/>
          </a:prstGeom>
          <a:noFill/>
          <a:ln/>
        </p:spPr>
        <p:txBody>
          <a:bodyPr wrap="none" lIns="0" tIns="0" rIns="0" bIns="0" rtlCol="0" anchor="t"/>
          <a:lstStyle/>
          <a:p>
            <a:pPr algn="l" indent="0" marL="0">
              <a:lnSpc>
                <a:spcPts val="2300"/>
              </a:lnSpc>
              <a:buNone/>
            </a:pPr>
            <a:r>
              <a:rPr lang="en-US" sz="1450" dirty="0">
                <a:solidFill>
                  <a:srgbClr val="504C49"/>
                </a:solidFill>
                <a:latin typeface="Source Serif Pro" pitchFamily="34" charset="0"/>
                <a:ea typeface="Source Serif Pro" pitchFamily="34" charset="-122"/>
                <a:cs typeface="Source Serif Pro" pitchFamily="34" charset="-120"/>
              </a:rPr>
              <a:t>The app is built using popular cross-platform frameworks like React Native or Flutter.</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735330"/>
            <a:ext cx="7556421" cy="2126337"/>
          </a:xfrm>
          <a:prstGeom prst="rect">
            <a:avLst/>
          </a:prstGeom>
          <a:noFill/>
          <a:ln/>
        </p:spPr>
        <p:txBody>
          <a:bodyPr wrap="square" lIns="0" tIns="0" rIns="0" bIns="0" rtlCol="0" anchor="t"/>
          <a:lstStyle/>
          <a:p>
            <a:pPr indent="0" marL="0">
              <a:lnSpc>
                <a:spcPts val="5550"/>
              </a:lnSpc>
              <a:buNone/>
            </a:pPr>
            <a:r>
              <a:rPr lang="en-US" sz="4450" dirty="0">
                <a:solidFill>
                  <a:srgbClr val="201B18"/>
                </a:solidFill>
                <a:latin typeface="Platypi Medium" pitchFamily="34" charset="0"/>
                <a:ea typeface="Platypi Medium" pitchFamily="34" charset="-122"/>
                <a:cs typeface="Platypi Medium" pitchFamily="34" charset="-120"/>
              </a:rPr>
              <a:t>User Experience Design: Intuitive Interface and Responsive Design</a:t>
            </a:r>
            <a:endParaRPr lang="en-US" sz="4450" dirty="0"/>
          </a:p>
        </p:txBody>
      </p:sp>
      <p:sp>
        <p:nvSpPr>
          <p:cNvPr id="4" name="Shape 1"/>
          <p:cNvSpPr/>
          <p:nvPr/>
        </p:nvSpPr>
        <p:spPr>
          <a:xfrm>
            <a:off x="6280190" y="3201829"/>
            <a:ext cx="3664863" cy="2395657"/>
          </a:xfrm>
          <a:prstGeom prst="roundRect">
            <a:avLst>
              <a:gd name="adj" fmla="val 1420"/>
            </a:avLst>
          </a:prstGeom>
          <a:solidFill>
            <a:srgbClr val="F9F7F7"/>
          </a:solidFill>
          <a:ln/>
        </p:spPr>
      </p:sp>
      <p:sp>
        <p:nvSpPr>
          <p:cNvPr id="5" name="Text 2"/>
          <p:cNvSpPr/>
          <p:nvPr/>
        </p:nvSpPr>
        <p:spPr>
          <a:xfrm>
            <a:off x="6507004" y="3428643"/>
            <a:ext cx="2835235" cy="354330"/>
          </a:xfrm>
          <a:prstGeom prst="rect">
            <a:avLst/>
          </a:prstGeom>
          <a:noFill/>
          <a:ln/>
        </p:spPr>
        <p:txBody>
          <a:bodyPr wrap="none" lIns="0" tIns="0" rIns="0" bIns="0" rtlCol="0" anchor="t"/>
          <a:lstStyle/>
          <a:p>
            <a:pPr indent="0" marL="0">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Clean Interface</a:t>
            </a:r>
            <a:endParaRPr lang="en-US" sz="2200" dirty="0"/>
          </a:p>
        </p:txBody>
      </p:sp>
      <p:sp>
        <p:nvSpPr>
          <p:cNvPr id="6" name="Text 3"/>
          <p:cNvSpPr/>
          <p:nvPr/>
        </p:nvSpPr>
        <p:spPr>
          <a:xfrm>
            <a:off x="6507004" y="3919061"/>
            <a:ext cx="3211235" cy="1451610"/>
          </a:xfrm>
          <a:prstGeom prst="rect">
            <a:avLst/>
          </a:prstGeom>
          <a:noFill/>
          <a:ln/>
        </p:spPr>
        <p:txBody>
          <a:bodyPr wrap="square" lIns="0" tIns="0" rIns="0" bIns="0" rtlCol="0" anchor="t"/>
          <a:lstStyle/>
          <a:p>
            <a:pPr indent="0" marL="0">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The app features a minimal, uncluttered design to ensure easy navigation and information access.</a:t>
            </a:r>
            <a:endParaRPr lang="en-US" sz="1750" dirty="0"/>
          </a:p>
        </p:txBody>
      </p:sp>
      <p:sp>
        <p:nvSpPr>
          <p:cNvPr id="7" name="Shape 4"/>
          <p:cNvSpPr/>
          <p:nvPr/>
        </p:nvSpPr>
        <p:spPr>
          <a:xfrm>
            <a:off x="10171867" y="3201829"/>
            <a:ext cx="3664863" cy="2395657"/>
          </a:xfrm>
          <a:prstGeom prst="roundRect">
            <a:avLst>
              <a:gd name="adj" fmla="val 1420"/>
            </a:avLst>
          </a:prstGeom>
          <a:solidFill>
            <a:srgbClr val="F9F7F7"/>
          </a:solidFill>
          <a:ln/>
        </p:spPr>
      </p:sp>
      <p:sp>
        <p:nvSpPr>
          <p:cNvPr id="8" name="Text 5"/>
          <p:cNvSpPr/>
          <p:nvPr/>
        </p:nvSpPr>
        <p:spPr>
          <a:xfrm>
            <a:off x="10398681" y="3428643"/>
            <a:ext cx="2835235" cy="354330"/>
          </a:xfrm>
          <a:prstGeom prst="rect">
            <a:avLst/>
          </a:prstGeom>
          <a:noFill/>
          <a:ln/>
        </p:spPr>
        <p:txBody>
          <a:bodyPr wrap="none" lIns="0" tIns="0" rIns="0" bIns="0" rtlCol="0" anchor="t"/>
          <a:lstStyle/>
          <a:p>
            <a:pPr indent="0" marL="0">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Responsive Layout</a:t>
            </a:r>
            <a:endParaRPr lang="en-US" sz="2200" dirty="0"/>
          </a:p>
        </p:txBody>
      </p:sp>
      <p:sp>
        <p:nvSpPr>
          <p:cNvPr id="9" name="Text 6"/>
          <p:cNvSpPr/>
          <p:nvPr/>
        </p:nvSpPr>
        <p:spPr>
          <a:xfrm>
            <a:off x="10398681" y="3919061"/>
            <a:ext cx="3211235" cy="1451610"/>
          </a:xfrm>
          <a:prstGeom prst="rect">
            <a:avLst/>
          </a:prstGeom>
          <a:noFill/>
          <a:ln/>
        </p:spPr>
        <p:txBody>
          <a:bodyPr wrap="square" lIns="0" tIns="0" rIns="0" bIns="0" rtlCol="0" anchor="t"/>
          <a:lstStyle/>
          <a:p>
            <a:pPr indent="0" marL="0">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The app automatically adapts to different screen sizes and devices, providing a seamless experience.</a:t>
            </a:r>
            <a:endParaRPr lang="en-US" sz="1750" dirty="0"/>
          </a:p>
        </p:txBody>
      </p:sp>
      <p:sp>
        <p:nvSpPr>
          <p:cNvPr id="10" name="Shape 7"/>
          <p:cNvSpPr/>
          <p:nvPr/>
        </p:nvSpPr>
        <p:spPr>
          <a:xfrm>
            <a:off x="6280190" y="5824299"/>
            <a:ext cx="7556421" cy="1669852"/>
          </a:xfrm>
          <a:prstGeom prst="roundRect">
            <a:avLst>
              <a:gd name="adj" fmla="val 2038"/>
            </a:avLst>
          </a:prstGeom>
          <a:solidFill>
            <a:srgbClr val="F9F7F7"/>
          </a:solidFill>
          <a:ln/>
        </p:spPr>
      </p:sp>
      <p:sp>
        <p:nvSpPr>
          <p:cNvPr id="11" name="Text 8"/>
          <p:cNvSpPr/>
          <p:nvPr/>
        </p:nvSpPr>
        <p:spPr>
          <a:xfrm>
            <a:off x="6507004" y="6051113"/>
            <a:ext cx="2835235" cy="354330"/>
          </a:xfrm>
          <a:prstGeom prst="rect">
            <a:avLst/>
          </a:prstGeom>
          <a:noFill/>
          <a:ln/>
        </p:spPr>
        <p:txBody>
          <a:bodyPr wrap="none" lIns="0" tIns="0" rIns="0" bIns="0" rtlCol="0" anchor="t"/>
          <a:lstStyle/>
          <a:p>
            <a:pPr indent="0" marL="0">
              <a:lnSpc>
                <a:spcPts val="2750"/>
              </a:lnSpc>
              <a:buNone/>
            </a:pPr>
            <a:r>
              <a:rPr lang="en-US" sz="2200" dirty="0">
                <a:solidFill>
                  <a:srgbClr val="504C49"/>
                </a:solidFill>
                <a:latin typeface="Platypi Medium" pitchFamily="34" charset="0"/>
                <a:ea typeface="Platypi Medium" pitchFamily="34" charset="-122"/>
                <a:cs typeface="Platypi Medium" pitchFamily="34" charset="-120"/>
              </a:rPr>
              <a:t>Intuitive Navigation</a:t>
            </a:r>
            <a:endParaRPr lang="en-US" sz="2200" dirty="0"/>
          </a:p>
        </p:txBody>
      </p:sp>
      <p:sp>
        <p:nvSpPr>
          <p:cNvPr id="12" name="Text 9"/>
          <p:cNvSpPr/>
          <p:nvPr/>
        </p:nvSpPr>
        <p:spPr>
          <a:xfrm>
            <a:off x="6507004" y="6541532"/>
            <a:ext cx="7102793" cy="725805"/>
          </a:xfrm>
          <a:prstGeom prst="rect">
            <a:avLst/>
          </a:prstGeom>
          <a:noFill/>
          <a:ln/>
        </p:spPr>
        <p:txBody>
          <a:bodyPr wrap="square" lIns="0" tIns="0" rIns="0" bIns="0" rtlCol="0" anchor="t"/>
          <a:lstStyle/>
          <a:p>
            <a:pPr indent="0" marL="0">
              <a:lnSpc>
                <a:spcPts val="2850"/>
              </a:lnSpc>
              <a:buNone/>
            </a:pPr>
            <a:r>
              <a:rPr lang="en-US" sz="1750" dirty="0">
                <a:solidFill>
                  <a:srgbClr val="504C49"/>
                </a:solidFill>
                <a:latin typeface="Source Serif Pro" pitchFamily="34" charset="0"/>
                <a:ea typeface="Source Serif Pro" pitchFamily="34" charset="-122"/>
                <a:cs typeface="Source Serif Pro" pitchFamily="34" charset="-120"/>
              </a:rPr>
              <a:t>Clear menus, intuitive icons, and smart defaults help users quickly find the information they need.</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148268" y="817364"/>
            <a:ext cx="7820263" cy="1772722"/>
          </a:xfrm>
          <a:prstGeom prst="rect">
            <a:avLst/>
          </a:prstGeom>
          <a:noFill/>
          <a:ln/>
        </p:spPr>
        <p:txBody>
          <a:bodyPr wrap="square" lIns="0" tIns="0" rIns="0" bIns="0" rtlCol="0" anchor="t"/>
          <a:lstStyle/>
          <a:p>
            <a:pPr indent="0" marL="0">
              <a:lnSpc>
                <a:spcPts val="4650"/>
              </a:lnSpc>
              <a:buNone/>
            </a:pPr>
            <a:r>
              <a:rPr lang="en-US" sz="3700" dirty="0">
                <a:solidFill>
                  <a:srgbClr val="201B18"/>
                </a:solidFill>
                <a:latin typeface="Platypi Medium" pitchFamily="34" charset="0"/>
                <a:ea typeface="Platypi Medium" pitchFamily="34" charset="-122"/>
                <a:cs typeface="Platypi Medium" pitchFamily="34" charset="-120"/>
              </a:rPr>
              <a:t>Potential Impact: Enhancing Commuter Experience and Improving Operational Efficiency</a:t>
            </a:r>
            <a:endParaRPr lang="en-US" sz="3700" dirty="0"/>
          </a:p>
        </p:txBody>
      </p:sp>
      <p:pic>
        <p:nvPicPr>
          <p:cNvPr id="4" name="Image 1" descr="preencoded.png">    </p:cNvPr>
          <p:cNvPicPr>
            <a:picLocks noChangeAspect="1"/>
          </p:cNvPicPr>
          <p:nvPr/>
        </p:nvPicPr>
        <p:blipFill>
          <a:blip r:embed="rId2"/>
          <a:stretch>
            <a:fillRect/>
          </a:stretch>
        </p:blipFill>
        <p:spPr>
          <a:xfrm>
            <a:off x="6148268" y="2873693"/>
            <a:ext cx="945475" cy="1512808"/>
          </a:xfrm>
          <a:prstGeom prst="rect">
            <a:avLst/>
          </a:prstGeom>
        </p:spPr>
      </p:pic>
      <p:sp>
        <p:nvSpPr>
          <p:cNvPr id="5" name="Text 1"/>
          <p:cNvSpPr/>
          <p:nvPr/>
        </p:nvSpPr>
        <p:spPr>
          <a:xfrm>
            <a:off x="7377351" y="3062764"/>
            <a:ext cx="2738318" cy="295394"/>
          </a:xfrm>
          <a:prstGeom prst="rect">
            <a:avLst/>
          </a:prstGeom>
          <a:noFill/>
          <a:ln/>
        </p:spPr>
        <p:txBody>
          <a:bodyPr wrap="none" lIns="0" tIns="0" rIns="0" bIns="0" rtlCol="0" anchor="t"/>
          <a:lstStyle/>
          <a:p>
            <a:pPr algn="l" indent="0" marL="0">
              <a:lnSpc>
                <a:spcPts val="2300"/>
              </a:lnSpc>
              <a:buNone/>
            </a:pPr>
            <a:r>
              <a:rPr lang="en-US" sz="1850" dirty="0">
                <a:solidFill>
                  <a:srgbClr val="504C49"/>
                </a:solidFill>
                <a:latin typeface="Platypi Medium" pitchFamily="34" charset="0"/>
                <a:ea typeface="Platypi Medium" pitchFamily="34" charset="-122"/>
                <a:cs typeface="Platypi Medium" pitchFamily="34" charset="-120"/>
              </a:rPr>
              <a:t>Reduced Waiting Times</a:t>
            </a:r>
            <a:endParaRPr lang="en-US" sz="1850" dirty="0"/>
          </a:p>
        </p:txBody>
      </p:sp>
      <p:sp>
        <p:nvSpPr>
          <p:cNvPr id="6" name="Text 2"/>
          <p:cNvSpPr/>
          <p:nvPr/>
        </p:nvSpPr>
        <p:spPr>
          <a:xfrm>
            <a:off x="7377351" y="3471624"/>
            <a:ext cx="6591181" cy="604838"/>
          </a:xfrm>
          <a:prstGeom prst="rect">
            <a:avLst/>
          </a:prstGeom>
          <a:noFill/>
          <a:ln/>
        </p:spPr>
        <p:txBody>
          <a:bodyPr wrap="square" lIns="0" tIns="0" rIns="0" bIns="0" rtlCol="0" anchor="t"/>
          <a:lstStyle/>
          <a:p>
            <a:pPr algn="l" indent="0" marL="0">
              <a:lnSpc>
                <a:spcPts val="2350"/>
              </a:lnSpc>
              <a:buNone/>
            </a:pPr>
            <a:r>
              <a:rPr lang="en-US" sz="1450" dirty="0">
                <a:solidFill>
                  <a:srgbClr val="504C49"/>
                </a:solidFill>
                <a:latin typeface="Source Serif Pro" pitchFamily="34" charset="0"/>
                <a:ea typeface="Source Serif Pro" pitchFamily="34" charset="-122"/>
                <a:cs typeface="Source Serif Pro" pitchFamily="34" charset="-120"/>
              </a:rPr>
              <a:t>Commuters can better time their arrivals, minimizing time spent waiting at bus stops.</a:t>
            </a:r>
            <a:endParaRPr lang="en-US" sz="1450" dirty="0"/>
          </a:p>
        </p:txBody>
      </p:sp>
      <p:pic>
        <p:nvPicPr>
          <p:cNvPr id="7" name="Image 2" descr="preencoded.png">    </p:cNvPr>
          <p:cNvPicPr>
            <a:picLocks noChangeAspect="1"/>
          </p:cNvPicPr>
          <p:nvPr/>
        </p:nvPicPr>
        <p:blipFill>
          <a:blip r:embed="rId3"/>
          <a:stretch>
            <a:fillRect/>
          </a:stretch>
        </p:blipFill>
        <p:spPr>
          <a:xfrm>
            <a:off x="6148268" y="4386501"/>
            <a:ext cx="945475" cy="1512808"/>
          </a:xfrm>
          <a:prstGeom prst="rect">
            <a:avLst/>
          </a:prstGeom>
        </p:spPr>
      </p:pic>
      <p:sp>
        <p:nvSpPr>
          <p:cNvPr id="8" name="Text 3"/>
          <p:cNvSpPr/>
          <p:nvPr/>
        </p:nvSpPr>
        <p:spPr>
          <a:xfrm>
            <a:off x="7377351" y="4575572"/>
            <a:ext cx="2625804" cy="295394"/>
          </a:xfrm>
          <a:prstGeom prst="rect">
            <a:avLst/>
          </a:prstGeom>
          <a:noFill/>
          <a:ln/>
        </p:spPr>
        <p:txBody>
          <a:bodyPr wrap="none" lIns="0" tIns="0" rIns="0" bIns="0" rtlCol="0" anchor="t"/>
          <a:lstStyle/>
          <a:p>
            <a:pPr algn="l" indent="0" marL="0">
              <a:lnSpc>
                <a:spcPts val="2300"/>
              </a:lnSpc>
              <a:buNone/>
            </a:pPr>
            <a:r>
              <a:rPr lang="en-US" sz="1850" dirty="0">
                <a:solidFill>
                  <a:srgbClr val="504C49"/>
                </a:solidFill>
                <a:latin typeface="Platypi Medium" pitchFamily="34" charset="0"/>
                <a:ea typeface="Platypi Medium" pitchFamily="34" charset="-122"/>
                <a:cs typeface="Platypi Medium" pitchFamily="34" charset="-120"/>
              </a:rPr>
              <a:t>Improved Connections</a:t>
            </a:r>
            <a:endParaRPr lang="en-US" sz="1850" dirty="0"/>
          </a:p>
        </p:txBody>
      </p:sp>
      <p:sp>
        <p:nvSpPr>
          <p:cNvPr id="9" name="Text 4"/>
          <p:cNvSpPr/>
          <p:nvPr/>
        </p:nvSpPr>
        <p:spPr>
          <a:xfrm>
            <a:off x="7377351" y="4984432"/>
            <a:ext cx="6591181" cy="604838"/>
          </a:xfrm>
          <a:prstGeom prst="rect">
            <a:avLst/>
          </a:prstGeom>
          <a:noFill/>
          <a:ln/>
        </p:spPr>
        <p:txBody>
          <a:bodyPr wrap="square" lIns="0" tIns="0" rIns="0" bIns="0" rtlCol="0" anchor="t"/>
          <a:lstStyle/>
          <a:p>
            <a:pPr algn="l" indent="0" marL="0">
              <a:lnSpc>
                <a:spcPts val="2350"/>
              </a:lnSpc>
              <a:buNone/>
            </a:pPr>
            <a:r>
              <a:rPr lang="en-US" sz="1450" dirty="0">
                <a:solidFill>
                  <a:srgbClr val="504C49"/>
                </a:solidFill>
                <a:latin typeface="Source Serif Pro" pitchFamily="34" charset="0"/>
                <a:ea typeface="Source Serif Pro" pitchFamily="34" charset="-122"/>
                <a:cs typeface="Source Serif Pro" pitchFamily="34" charset="-120"/>
              </a:rPr>
              <a:t>Real-time alerts help commuters adjust plans and make their connections on time.</a:t>
            </a:r>
            <a:endParaRPr lang="en-US" sz="1450" dirty="0"/>
          </a:p>
        </p:txBody>
      </p:sp>
      <p:pic>
        <p:nvPicPr>
          <p:cNvPr id="10" name="Image 3" descr="preencoded.png">    </p:cNvPr>
          <p:cNvPicPr>
            <a:picLocks noChangeAspect="1"/>
          </p:cNvPicPr>
          <p:nvPr/>
        </p:nvPicPr>
        <p:blipFill>
          <a:blip r:embed="rId4"/>
          <a:stretch>
            <a:fillRect/>
          </a:stretch>
        </p:blipFill>
        <p:spPr>
          <a:xfrm>
            <a:off x="6148268" y="5899309"/>
            <a:ext cx="945475" cy="1512808"/>
          </a:xfrm>
          <a:prstGeom prst="rect">
            <a:avLst/>
          </a:prstGeom>
        </p:spPr>
      </p:pic>
      <p:sp>
        <p:nvSpPr>
          <p:cNvPr id="11" name="Text 5"/>
          <p:cNvSpPr/>
          <p:nvPr/>
        </p:nvSpPr>
        <p:spPr>
          <a:xfrm>
            <a:off x="7377351" y="6088380"/>
            <a:ext cx="3593306" cy="295394"/>
          </a:xfrm>
          <a:prstGeom prst="rect">
            <a:avLst/>
          </a:prstGeom>
          <a:noFill/>
          <a:ln/>
        </p:spPr>
        <p:txBody>
          <a:bodyPr wrap="none" lIns="0" tIns="0" rIns="0" bIns="0" rtlCol="0" anchor="t"/>
          <a:lstStyle/>
          <a:p>
            <a:pPr algn="l" indent="0" marL="0">
              <a:lnSpc>
                <a:spcPts val="2300"/>
              </a:lnSpc>
              <a:buNone/>
            </a:pPr>
            <a:r>
              <a:rPr lang="en-US" sz="1850" dirty="0">
                <a:solidFill>
                  <a:srgbClr val="504C49"/>
                </a:solidFill>
                <a:latin typeface="Platypi Medium" pitchFamily="34" charset="0"/>
                <a:ea typeface="Platypi Medium" pitchFamily="34" charset="-122"/>
                <a:cs typeface="Platypi Medium" pitchFamily="34" charset="-120"/>
              </a:rPr>
              <a:t>Enhanced Operational Insights</a:t>
            </a:r>
            <a:endParaRPr lang="en-US" sz="1850" dirty="0"/>
          </a:p>
        </p:txBody>
      </p:sp>
      <p:sp>
        <p:nvSpPr>
          <p:cNvPr id="12" name="Text 6"/>
          <p:cNvSpPr/>
          <p:nvPr/>
        </p:nvSpPr>
        <p:spPr>
          <a:xfrm>
            <a:off x="7377351" y="6497241"/>
            <a:ext cx="6591181" cy="604838"/>
          </a:xfrm>
          <a:prstGeom prst="rect">
            <a:avLst/>
          </a:prstGeom>
          <a:noFill/>
          <a:ln/>
        </p:spPr>
        <p:txBody>
          <a:bodyPr wrap="square" lIns="0" tIns="0" rIns="0" bIns="0" rtlCol="0" anchor="t"/>
          <a:lstStyle/>
          <a:p>
            <a:pPr algn="l" indent="0" marL="0">
              <a:lnSpc>
                <a:spcPts val="2350"/>
              </a:lnSpc>
              <a:buNone/>
            </a:pPr>
            <a:r>
              <a:rPr lang="en-US" sz="1450" dirty="0">
                <a:solidFill>
                  <a:srgbClr val="504C49"/>
                </a:solidFill>
                <a:latin typeface="Source Serif Pro" pitchFamily="34" charset="0"/>
                <a:ea typeface="Source Serif Pro" pitchFamily="34" charset="-122"/>
                <a:cs typeface="Source Serif Pro" pitchFamily="34" charset="-120"/>
              </a:rPr>
              <a:t>The app's data can help Haryana Roadways optimize routes, schedules and resource allocation.</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4630400" cy="2590562"/>
          </a:xfrm>
          <a:prstGeom prst="rect">
            <a:avLst/>
          </a:prstGeom>
        </p:spPr>
      </p:pic>
      <p:sp>
        <p:nvSpPr>
          <p:cNvPr id="3" name="Text 0"/>
          <p:cNvSpPr/>
          <p:nvPr/>
        </p:nvSpPr>
        <p:spPr>
          <a:xfrm>
            <a:off x="725329" y="3320772"/>
            <a:ext cx="13179743" cy="1295400"/>
          </a:xfrm>
          <a:prstGeom prst="rect">
            <a:avLst/>
          </a:prstGeom>
          <a:noFill/>
          <a:ln/>
        </p:spPr>
        <p:txBody>
          <a:bodyPr wrap="square" lIns="0" tIns="0" rIns="0" bIns="0" rtlCol="0" anchor="t"/>
          <a:lstStyle/>
          <a:p>
            <a:pPr indent="0" marL="0">
              <a:lnSpc>
                <a:spcPts val="5050"/>
              </a:lnSpc>
              <a:buNone/>
            </a:pPr>
            <a:r>
              <a:rPr lang="en-US" sz="4050" dirty="0">
                <a:solidFill>
                  <a:srgbClr val="201B18"/>
                </a:solidFill>
                <a:latin typeface="Platypi Medium" pitchFamily="34" charset="0"/>
                <a:ea typeface="Platypi Medium" pitchFamily="34" charset="-122"/>
                <a:cs typeface="Platypi Medium" pitchFamily="34" charset="-120"/>
              </a:rPr>
              <a:t>Next Steps and Conclusion: Roadmap for Implementation and Future Enhancements</a:t>
            </a:r>
            <a:endParaRPr lang="en-US" sz="4050" dirty="0"/>
          </a:p>
        </p:txBody>
      </p:sp>
      <p:sp>
        <p:nvSpPr>
          <p:cNvPr id="4" name="Shape 1"/>
          <p:cNvSpPr/>
          <p:nvPr/>
        </p:nvSpPr>
        <p:spPr>
          <a:xfrm>
            <a:off x="725329" y="5160169"/>
            <a:ext cx="466249" cy="466249"/>
          </a:xfrm>
          <a:prstGeom prst="roundRect">
            <a:avLst>
              <a:gd name="adj" fmla="val 6668"/>
            </a:avLst>
          </a:prstGeom>
          <a:solidFill>
            <a:srgbClr val="F9F7F7"/>
          </a:solidFill>
          <a:ln/>
        </p:spPr>
      </p:sp>
      <p:sp>
        <p:nvSpPr>
          <p:cNvPr id="5" name="Text 2"/>
          <p:cNvSpPr/>
          <p:nvPr/>
        </p:nvSpPr>
        <p:spPr>
          <a:xfrm>
            <a:off x="888683" y="5237798"/>
            <a:ext cx="139541" cy="310872"/>
          </a:xfrm>
          <a:prstGeom prst="rect">
            <a:avLst/>
          </a:prstGeom>
          <a:noFill/>
          <a:ln/>
        </p:spPr>
        <p:txBody>
          <a:bodyPr wrap="none" lIns="0" tIns="0" rIns="0" bIns="0" rtlCol="0" anchor="t"/>
          <a:lstStyle/>
          <a:p>
            <a:pPr algn="ctr" indent="0" marL="0">
              <a:lnSpc>
                <a:spcPts val="2400"/>
              </a:lnSpc>
              <a:buNone/>
            </a:pPr>
            <a:r>
              <a:rPr lang="en-US" sz="2400" dirty="0">
                <a:solidFill>
                  <a:srgbClr val="504C49"/>
                </a:solidFill>
                <a:latin typeface="Platypi Medium" pitchFamily="34" charset="0"/>
                <a:ea typeface="Platypi Medium" pitchFamily="34" charset="-122"/>
                <a:cs typeface="Platypi Medium" pitchFamily="34" charset="-120"/>
              </a:rPr>
              <a:t>1</a:t>
            </a:r>
            <a:endParaRPr lang="en-US" sz="2400" dirty="0"/>
          </a:p>
        </p:txBody>
      </p:sp>
      <p:sp>
        <p:nvSpPr>
          <p:cNvPr id="6" name="Text 3"/>
          <p:cNvSpPr/>
          <p:nvPr/>
        </p:nvSpPr>
        <p:spPr>
          <a:xfrm>
            <a:off x="1398746" y="5160169"/>
            <a:ext cx="2590562" cy="323850"/>
          </a:xfrm>
          <a:prstGeom prst="rect">
            <a:avLst/>
          </a:prstGeom>
          <a:noFill/>
          <a:ln/>
        </p:spPr>
        <p:txBody>
          <a:bodyPr wrap="none" lIns="0" tIns="0" rIns="0" bIns="0" rtlCol="0" anchor="t"/>
          <a:lstStyle/>
          <a:p>
            <a:pPr indent="0" marL="0">
              <a:lnSpc>
                <a:spcPts val="2500"/>
              </a:lnSpc>
              <a:buNone/>
            </a:pPr>
            <a:r>
              <a:rPr lang="en-US" sz="2000" dirty="0">
                <a:solidFill>
                  <a:srgbClr val="504C49"/>
                </a:solidFill>
                <a:latin typeface="Platypi Medium" pitchFamily="34" charset="0"/>
                <a:ea typeface="Platypi Medium" pitchFamily="34" charset="-122"/>
                <a:cs typeface="Platypi Medium" pitchFamily="34" charset="-120"/>
              </a:rPr>
              <a:t>Pilot Program</a:t>
            </a:r>
            <a:endParaRPr lang="en-US" sz="2000" dirty="0"/>
          </a:p>
        </p:txBody>
      </p:sp>
      <p:sp>
        <p:nvSpPr>
          <p:cNvPr id="7" name="Text 4"/>
          <p:cNvSpPr/>
          <p:nvPr/>
        </p:nvSpPr>
        <p:spPr>
          <a:xfrm>
            <a:off x="1398746" y="5608320"/>
            <a:ext cx="3581757" cy="994767"/>
          </a:xfrm>
          <a:prstGeom prst="rect">
            <a:avLst/>
          </a:prstGeom>
          <a:noFill/>
          <a:ln/>
        </p:spPr>
        <p:txBody>
          <a:bodyPr wrap="square" lIns="0" tIns="0" rIns="0" bIns="0" rtlCol="0" anchor="t"/>
          <a:lstStyle/>
          <a:p>
            <a:pPr indent="0" marL="0">
              <a:lnSpc>
                <a:spcPts val="2600"/>
              </a:lnSpc>
              <a:buNone/>
            </a:pPr>
            <a:r>
              <a:rPr lang="en-US" sz="1600" dirty="0">
                <a:solidFill>
                  <a:srgbClr val="504C49"/>
                </a:solidFill>
                <a:latin typeface="Source Serif Pro" pitchFamily="34" charset="0"/>
                <a:ea typeface="Source Serif Pro" pitchFamily="34" charset="-122"/>
                <a:cs typeface="Source Serif Pro" pitchFamily="34" charset="-120"/>
              </a:rPr>
              <a:t>Deploy the app in a select region to gather user feedback and refine the solution.</a:t>
            </a:r>
            <a:endParaRPr lang="en-US" sz="1600" dirty="0"/>
          </a:p>
        </p:txBody>
      </p:sp>
      <p:sp>
        <p:nvSpPr>
          <p:cNvPr id="8" name="Shape 5"/>
          <p:cNvSpPr/>
          <p:nvPr/>
        </p:nvSpPr>
        <p:spPr>
          <a:xfrm>
            <a:off x="5187672" y="5160169"/>
            <a:ext cx="466249" cy="466249"/>
          </a:xfrm>
          <a:prstGeom prst="roundRect">
            <a:avLst>
              <a:gd name="adj" fmla="val 6668"/>
            </a:avLst>
          </a:prstGeom>
          <a:solidFill>
            <a:srgbClr val="F9F7F7"/>
          </a:solidFill>
          <a:ln/>
        </p:spPr>
      </p:sp>
      <p:sp>
        <p:nvSpPr>
          <p:cNvPr id="9" name="Text 6"/>
          <p:cNvSpPr/>
          <p:nvPr/>
        </p:nvSpPr>
        <p:spPr>
          <a:xfrm>
            <a:off x="5320308" y="5237798"/>
            <a:ext cx="200858" cy="310872"/>
          </a:xfrm>
          <a:prstGeom prst="rect">
            <a:avLst/>
          </a:prstGeom>
          <a:noFill/>
          <a:ln/>
        </p:spPr>
        <p:txBody>
          <a:bodyPr wrap="none" lIns="0" tIns="0" rIns="0" bIns="0" rtlCol="0" anchor="t"/>
          <a:lstStyle/>
          <a:p>
            <a:pPr algn="ctr" indent="0" marL="0">
              <a:lnSpc>
                <a:spcPts val="2400"/>
              </a:lnSpc>
              <a:buNone/>
            </a:pPr>
            <a:r>
              <a:rPr lang="en-US" sz="2400" dirty="0">
                <a:solidFill>
                  <a:srgbClr val="504C49"/>
                </a:solidFill>
                <a:latin typeface="Platypi Medium" pitchFamily="34" charset="0"/>
                <a:ea typeface="Platypi Medium" pitchFamily="34" charset="-122"/>
                <a:cs typeface="Platypi Medium" pitchFamily="34" charset="-120"/>
              </a:rPr>
              <a:t>2</a:t>
            </a:r>
            <a:endParaRPr lang="en-US" sz="2400" dirty="0"/>
          </a:p>
        </p:txBody>
      </p:sp>
      <p:sp>
        <p:nvSpPr>
          <p:cNvPr id="10" name="Text 7"/>
          <p:cNvSpPr/>
          <p:nvPr/>
        </p:nvSpPr>
        <p:spPr>
          <a:xfrm>
            <a:off x="5861090" y="5160169"/>
            <a:ext cx="2590562" cy="323850"/>
          </a:xfrm>
          <a:prstGeom prst="rect">
            <a:avLst/>
          </a:prstGeom>
          <a:noFill/>
          <a:ln/>
        </p:spPr>
        <p:txBody>
          <a:bodyPr wrap="none" lIns="0" tIns="0" rIns="0" bIns="0" rtlCol="0" anchor="t"/>
          <a:lstStyle/>
          <a:p>
            <a:pPr indent="0" marL="0">
              <a:lnSpc>
                <a:spcPts val="2500"/>
              </a:lnSpc>
              <a:buNone/>
            </a:pPr>
            <a:r>
              <a:rPr lang="en-US" sz="2000" dirty="0">
                <a:solidFill>
                  <a:srgbClr val="504C49"/>
                </a:solidFill>
                <a:latin typeface="Platypi Medium" pitchFamily="34" charset="0"/>
                <a:ea typeface="Platypi Medium" pitchFamily="34" charset="-122"/>
                <a:cs typeface="Platypi Medium" pitchFamily="34" charset="-120"/>
              </a:rPr>
              <a:t>Phased Rollout</a:t>
            </a:r>
            <a:endParaRPr lang="en-US" sz="2000" dirty="0"/>
          </a:p>
        </p:txBody>
      </p:sp>
      <p:sp>
        <p:nvSpPr>
          <p:cNvPr id="11" name="Text 8"/>
          <p:cNvSpPr/>
          <p:nvPr/>
        </p:nvSpPr>
        <p:spPr>
          <a:xfrm>
            <a:off x="5861090" y="5608320"/>
            <a:ext cx="3581757" cy="663178"/>
          </a:xfrm>
          <a:prstGeom prst="rect">
            <a:avLst/>
          </a:prstGeom>
          <a:noFill/>
          <a:ln/>
        </p:spPr>
        <p:txBody>
          <a:bodyPr wrap="square" lIns="0" tIns="0" rIns="0" bIns="0" rtlCol="0" anchor="t"/>
          <a:lstStyle/>
          <a:p>
            <a:pPr indent="0" marL="0">
              <a:lnSpc>
                <a:spcPts val="2600"/>
              </a:lnSpc>
              <a:buNone/>
            </a:pPr>
            <a:r>
              <a:rPr lang="en-US" sz="1600" dirty="0">
                <a:solidFill>
                  <a:srgbClr val="504C49"/>
                </a:solidFill>
                <a:latin typeface="Source Serif Pro" pitchFamily="34" charset="0"/>
                <a:ea typeface="Source Serif Pro" pitchFamily="34" charset="-122"/>
                <a:cs typeface="Source Serif Pro" pitchFamily="34" charset="-120"/>
              </a:rPr>
              <a:t>Gradually expand the app's coverage to the entire Haryana Roadways network.</a:t>
            </a:r>
            <a:endParaRPr lang="en-US" sz="1600" dirty="0"/>
          </a:p>
        </p:txBody>
      </p:sp>
      <p:sp>
        <p:nvSpPr>
          <p:cNvPr id="12" name="Shape 9"/>
          <p:cNvSpPr/>
          <p:nvPr/>
        </p:nvSpPr>
        <p:spPr>
          <a:xfrm>
            <a:off x="9650016" y="5160169"/>
            <a:ext cx="466249" cy="466249"/>
          </a:xfrm>
          <a:prstGeom prst="roundRect">
            <a:avLst>
              <a:gd name="adj" fmla="val 6668"/>
            </a:avLst>
          </a:prstGeom>
          <a:solidFill>
            <a:srgbClr val="F9F7F7"/>
          </a:solidFill>
          <a:ln/>
        </p:spPr>
      </p:sp>
      <p:sp>
        <p:nvSpPr>
          <p:cNvPr id="13" name="Text 10"/>
          <p:cNvSpPr/>
          <p:nvPr/>
        </p:nvSpPr>
        <p:spPr>
          <a:xfrm>
            <a:off x="9786104" y="5237798"/>
            <a:ext cx="193953" cy="310872"/>
          </a:xfrm>
          <a:prstGeom prst="rect">
            <a:avLst/>
          </a:prstGeom>
          <a:noFill/>
          <a:ln/>
        </p:spPr>
        <p:txBody>
          <a:bodyPr wrap="none" lIns="0" tIns="0" rIns="0" bIns="0" rtlCol="0" anchor="t"/>
          <a:lstStyle/>
          <a:p>
            <a:pPr algn="ctr" indent="0" marL="0">
              <a:lnSpc>
                <a:spcPts val="2400"/>
              </a:lnSpc>
              <a:buNone/>
            </a:pPr>
            <a:r>
              <a:rPr lang="en-US" sz="2400" dirty="0">
                <a:solidFill>
                  <a:srgbClr val="504C49"/>
                </a:solidFill>
                <a:latin typeface="Platypi Medium" pitchFamily="34" charset="0"/>
                <a:ea typeface="Platypi Medium" pitchFamily="34" charset="-122"/>
                <a:cs typeface="Platypi Medium" pitchFamily="34" charset="-120"/>
              </a:rPr>
              <a:t>3</a:t>
            </a:r>
            <a:endParaRPr lang="en-US" sz="2400" dirty="0"/>
          </a:p>
        </p:txBody>
      </p:sp>
      <p:sp>
        <p:nvSpPr>
          <p:cNvPr id="14" name="Text 11"/>
          <p:cNvSpPr/>
          <p:nvPr/>
        </p:nvSpPr>
        <p:spPr>
          <a:xfrm>
            <a:off x="10323433" y="5160169"/>
            <a:ext cx="3262432" cy="323850"/>
          </a:xfrm>
          <a:prstGeom prst="rect">
            <a:avLst/>
          </a:prstGeom>
          <a:noFill/>
          <a:ln/>
        </p:spPr>
        <p:txBody>
          <a:bodyPr wrap="none" lIns="0" tIns="0" rIns="0" bIns="0" rtlCol="0" anchor="t"/>
          <a:lstStyle/>
          <a:p>
            <a:pPr indent="0" marL="0">
              <a:lnSpc>
                <a:spcPts val="2500"/>
              </a:lnSpc>
              <a:buNone/>
            </a:pPr>
            <a:r>
              <a:rPr lang="en-US" sz="2000" dirty="0">
                <a:solidFill>
                  <a:srgbClr val="504C49"/>
                </a:solidFill>
                <a:latin typeface="Platypi Medium" pitchFamily="34" charset="0"/>
                <a:ea typeface="Platypi Medium" pitchFamily="34" charset="-122"/>
                <a:cs typeface="Platypi Medium" pitchFamily="34" charset="-120"/>
              </a:rPr>
              <a:t>Continuous Improvement</a:t>
            </a:r>
            <a:endParaRPr lang="en-US" sz="2000" dirty="0"/>
          </a:p>
        </p:txBody>
      </p:sp>
      <p:sp>
        <p:nvSpPr>
          <p:cNvPr id="15" name="Text 12"/>
          <p:cNvSpPr/>
          <p:nvPr/>
        </p:nvSpPr>
        <p:spPr>
          <a:xfrm>
            <a:off x="10323433" y="5608320"/>
            <a:ext cx="3581757" cy="994767"/>
          </a:xfrm>
          <a:prstGeom prst="rect">
            <a:avLst/>
          </a:prstGeom>
          <a:noFill/>
          <a:ln/>
        </p:spPr>
        <p:txBody>
          <a:bodyPr wrap="square" lIns="0" tIns="0" rIns="0" bIns="0" rtlCol="0" anchor="t"/>
          <a:lstStyle/>
          <a:p>
            <a:pPr indent="0" marL="0">
              <a:lnSpc>
                <a:spcPts val="2600"/>
              </a:lnSpc>
              <a:buNone/>
            </a:pPr>
            <a:r>
              <a:rPr lang="en-US" sz="1600" dirty="0">
                <a:solidFill>
                  <a:srgbClr val="504C49"/>
                </a:solidFill>
                <a:latin typeface="Source Serif Pro" pitchFamily="34" charset="0"/>
                <a:ea typeface="Source Serif Pro" pitchFamily="34" charset="-122"/>
                <a:cs typeface="Source Serif Pro" pitchFamily="34" charset="-120"/>
              </a:rPr>
              <a:t>Regularly update the app with new features and integrations based on user needs.</a:t>
            </a:r>
            <a:endParaRPr lang="en-US" sz="1600" dirty="0"/>
          </a:p>
        </p:txBody>
      </p:sp>
      <p:sp>
        <p:nvSpPr>
          <p:cNvPr id="16" name="Text 13"/>
          <p:cNvSpPr/>
          <p:nvPr/>
        </p:nvSpPr>
        <p:spPr>
          <a:xfrm>
            <a:off x="725329" y="6836212"/>
            <a:ext cx="13179743" cy="663178"/>
          </a:xfrm>
          <a:prstGeom prst="rect">
            <a:avLst/>
          </a:prstGeom>
          <a:noFill/>
          <a:ln/>
        </p:spPr>
        <p:txBody>
          <a:bodyPr wrap="square" lIns="0" tIns="0" rIns="0" bIns="0" rtlCol="0" anchor="t"/>
          <a:lstStyle/>
          <a:p>
            <a:pPr indent="0" marL="0">
              <a:lnSpc>
                <a:spcPts val="2600"/>
              </a:lnSpc>
              <a:buNone/>
            </a:pPr>
            <a:r>
              <a:rPr lang="en-US" sz="1600" dirty="0">
                <a:solidFill>
                  <a:srgbClr val="504C49"/>
                </a:solidFill>
                <a:latin typeface="Source Serif Pro" pitchFamily="34" charset="0"/>
                <a:ea typeface="Source Serif Pro" pitchFamily="34" charset="-122"/>
                <a:cs typeface="Source Serif Pro" pitchFamily="34" charset="-120"/>
              </a:rPr>
              <a:t>By delivering real-time visibility and enhanced services, this Haryana Roadways mobile app has the potential to transform the daily commute for millions of passengers, while also driving operational efficiencies for the transportation authority.</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2024-10-17T06:08:46Z</dcterms:created>
  <dcterms:modified xsi:type="dcterms:W3CDTF">2024-10-17T06:08:46Z</dcterms:modified>
</cp:coreProperties>
</file>