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74" r:id="rId3"/>
    <p:sldId id="256" r:id="rId4"/>
    <p:sldId id="257" r:id="rId5"/>
    <p:sldId id="259" r:id="rId6"/>
    <p:sldId id="260" r:id="rId7"/>
    <p:sldId id="261" r:id="rId8"/>
    <p:sldId id="262" r:id="rId9"/>
    <p:sldId id="263" r:id="rId10"/>
    <p:sldId id="278" r:id="rId11"/>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1pPr>
    <a:lvl2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2pPr>
    <a:lvl3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3pPr>
    <a:lvl4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4pPr>
    <a:lvl5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5pPr>
    <a:lvl6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6pPr>
    <a:lvl7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7pPr>
    <a:lvl8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8pPr>
    <a:lvl9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ksh" initials="m"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commentAuthors" Target="commen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9" name="Shape 89"/>
          <p:cNvSpPr/>
          <p:nvPr>
            <p:ph type="sldImg"/>
          </p:nvPr>
        </p:nvSpPr>
        <p:spPr>
          <a:xfrm>
            <a:off x="1143000" y="685800"/>
            <a:ext cx="4572000" cy="3429000"/>
          </a:xfrm>
          <a:prstGeom prst="rect">
            <a:avLst/>
          </a:prstGeom>
        </p:spPr>
        <p:txBody>
          <a:bodyPr/>
          <a:lstStyle/>
          <a:p/>
        </p:txBody>
      </p:sp>
      <p:sp>
        <p:nvSpPr>
          <p:cNvPr id="90" name="Shape 90"/>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panose="020F0502020204030204"/>
      </a:defRPr>
    </a:lvl1pPr>
    <a:lvl2pPr indent="228600" latinLnBrk="0">
      <a:defRPr sz="1200">
        <a:latin typeface="+mj-lt"/>
        <a:ea typeface="+mj-ea"/>
        <a:cs typeface="+mj-cs"/>
        <a:sym typeface="Calibri" panose="020F0502020204030204"/>
      </a:defRPr>
    </a:lvl2pPr>
    <a:lvl3pPr indent="457200" latinLnBrk="0">
      <a:defRPr sz="1200">
        <a:latin typeface="+mj-lt"/>
        <a:ea typeface="+mj-ea"/>
        <a:cs typeface="+mj-cs"/>
        <a:sym typeface="Calibri" panose="020F0502020204030204"/>
      </a:defRPr>
    </a:lvl3pPr>
    <a:lvl4pPr indent="685800" latinLnBrk="0">
      <a:defRPr sz="1200">
        <a:latin typeface="+mj-lt"/>
        <a:ea typeface="+mj-ea"/>
        <a:cs typeface="+mj-cs"/>
        <a:sym typeface="Calibri" panose="020F0502020204030204"/>
      </a:defRPr>
    </a:lvl4pPr>
    <a:lvl5pPr indent="914400" latinLnBrk="0">
      <a:defRPr sz="1200">
        <a:latin typeface="+mj-lt"/>
        <a:ea typeface="+mj-ea"/>
        <a:cs typeface="+mj-cs"/>
        <a:sym typeface="Calibri" panose="020F0502020204030204"/>
      </a:defRPr>
    </a:lvl5pPr>
    <a:lvl6pPr indent="1143000" latinLnBrk="0">
      <a:defRPr sz="1200">
        <a:latin typeface="+mj-lt"/>
        <a:ea typeface="+mj-ea"/>
        <a:cs typeface="+mj-cs"/>
        <a:sym typeface="Calibri" panose="020F0502020204030204"/>
      </a:defRPr>
    </a:lvl6pPr>
    <a:lvl7pPr indent="1371600" latinLnBrk="0">
      <a:defRPr sz="1200">
        <a:latin typeface="+mj-lt"/>
        <a:ea typeface="+mj-ea"/>
        <a:cs typeface="+mj-cs"/>
        <a:sym typeface="Calibri" panose="020F0502020204030204"/>
      </a:defRPr>
    </a:lvl7pPr>
    <a:lvl8pPr indent="1600200" latinLnBrk="0">
      <a:defRPr sz="1200">
        <a:latin typeface="+mj-lt"/>
        <a:ea typeface="+mj-ea"/>
        <a:cs typeface="+mj-cs"/>
        <a:sym typeface="Calibri" panose="020F0502020204030204"/>
      </a:defRPr>
    </a:lvl8pPr>
    <a:lvl9pPr indent="1828800" latinLnBrk="0">
      <a:defRPr sz="1200">
        <a:latin typeface="+mj-lt"/>
        <a:ea typeface="+mj-ea"/>
        <a:cs typeface="+mj-cs"/>
        <a:sym typeface="Calibri" panose="020F050202020403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5400"/>
            </a:lvl1pPr>
          </a:lstStyle>
          <a:p>
            <a:r>
              <a:rPr lang="en-US" smtClean="0"/>
              <a:t>Click to edit Master title style</a:t>
            </a:r>
            <a:endParaRPr lang="en-US"/>
          </a:p>
        </p:txBody>
      </p:sp>
      <p:sp>
        <p:nvSpPr>
          <p:cNvPr id="3" name="Subtitle 2"/>
          <p:cNvSpPr>
            <a:spLocks noGrp="1"/>
          </p:cNvSpPr>
          <p:nvPr>
            <p:ph type="subTitle" idx="1"/>
          </p:nvPr>
        </p:nvSpPr>
        <p:spPr>
          <a:xfrm>
            <a:off x="1828800" y="4322446"/>
            <a:ext cx="10972800" cy="1986914"/>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98182F0-CF90-4D8B-A51C-796537115A5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1" y="2051686"/>
            <a:ext cx="12618720" cy="3423284"/>
          </a:xfrm>
        </p:spPr>
        <p:txBody>
          <a:bodyPr anchor="b"/>
          <a:lstStyle>
            <a:lvl1pPr>
              <a:defRPr sz="5400"/>
            </a:lvl1pPr>
          </a:lstStyle>
          <a:p>
            <a:r>
              <a:rPr lang="en-US" smtClean="0"/>
              <a:t>Click to edit Master title style</a:t>
            </a:r>
            <a:endParaRPr lang="en-US"/>
          </a:p>
        </p:txBody>
      </p:sp>
      <p:sp>
        <p:nvSpPr>
          <p:cNvPr id="3" name="Text Placeholder 2"/>
          <p:cNvSpPr>
            <a:spLocks noGrp="1"/>
          </p:cNvSpPr>
          <p:nvPr>
            <p:ph type="body" idx="1"/>
          </p:nvPr>
        </p:nvSpPr>
        <p:spPr>
          <a:xfrm>
            <a:off x="998221" y="5507356"/>
            <a:ext cx="12618720" cy="1800224"/>
          </a:xfrm>
        </p:spPr>
        <p:txBody>
          <a:bodyPr/>
          <a:lstStyle>
            <a:lvl1pPr marL="0" indent="0">
              <a:buNone/>
              <a:defRPr sz="2160">
                <a:solidFill>
                  <a:schemeClr val="tx1">
                    <a:tint val="75000"/>
                  </a:schemeClr>
                </a:solidFill>
              </a:defRPr>
            </a:lvl1pPr>
            <a:lvl2pPr marL="411480" indent="0">
              <a:buNone/>
              <a:defRPr sz="180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31520" y="1920240"/>
            <a:ext cx="6452006" cy="543115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7446874" y="1920240"/>
            <a:ext cx="6452006" cy="543115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007746" y="3006090"/>
            <a:ext cx="6189344" cy="442150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7406640" y="3006090"/>
            <a:ext cx="6219826" cy="442150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5" cy="1920240"/>
          </a:xfrm>
        </p:spPr>
        <p:txBody>
          <a:bodyPr anchor="b"/>
          <a:lstStyle>
            <a:lvl1pPr>
              <a:defRPr sz="2880"/>
            </a:lvl1pPr>
          </a:lstStyle>
          <a:p>
            <a:r>
              <a:rPr lang="en-US" smtClean="0"/>
              <a:t>Click to edit Master title style</a:t>
            </a:r>
            <a:endParaRPr lang="en-US"/>
          </a:p>
        </p:txBody>
      </p:sp>
      <p:sp>
        <p:nvSpPr>
          <p:cNvPr id="3" name="Content Placeholder 2"/>
          <p:cNvSpPr>
            <a:spLocks noGrp="1"/>
          </p:cNvSpPr>
          <p:nvPr>
            <p:ph idx="1"/>
          </p:nvPr>
        </p:nvSpPr>
        <p:spPr>
          <a:xfrm>
            <a:off x="6219826" y="1184910"/>
            <a:ext cx="7406640" cy="5848350"/>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1007746" y="2468880"/>
            <a:ext cx="4718685" cy="4573906"/>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5" cy="1920240"/>
          </a:xfrm>
        </p:spPr>
        <p:txBody>
          <a:bodyPr anchor="b"/>
          <a:lstStyle>
            <a:lvl1pPr>
              <a:defRPr sz="2880"/>
            </a:lvl1pPr>
          </a:lstStyle>
          <a:p>
            <a:r>
              <a:rPr lang="en-US" smtClean="0"/>
              <a:t>Click to edit Master title style</a:t>
            </a:r>
            <a:endParaRPr lang="en-US"/>
          </a:p>
        </p:txBody>
      </p:sp>
      <p:sp>
        <p:nvSpPr>
          <p:cNvPr id="3" name="Picture Placeholder 2"/>
          <p:cNvSpPr>
            <a:spLocks noGrp="1"/>
          </p:cNvSpPr>
          <p:nvPr>
            <p:ph type="pic" idx="1"/>
          </p:nvPr>
        </p:nvSpPr>
        <p:spPr>
          <a:xfrm>
            <a:off x="6219826" y="1184910"/>
            <a:ext cx="7406640" cy="584835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en-US"/>
          </a:p>
        </p:txBody>
      </p:sp>
      <p:sp>
        <p:nvSpPr>
          <p:cNvPr id="4" name="Text Placeholder 3"/>
          <p:cNvSpPr>
            <a:spLocks noGrp="1"/>
          </p:cNvSpPr>
          <p:nvPr>
            <p:ph type="body" sz="half" idx="2"/>
          </p:nvPr>
        </p:nvSpPr>
        <p:spPr>
          <a:xfrm>
            <a:off x="1007746" y="2468880"/>
            <a:ext cx="4718685" cy="4573906"/>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7040" y="329566"/>
            <a:ext cx="3291840" cy="702183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31520" y="329566"/>
            <a:ext cx="9684688" cy="702183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ransition spd="med"/>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ransition spd="med"/>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731520" y="329566"/>
            <a:ext cx="13167360" cy="13716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731520" y="1920240"/>
            <a:ext cx="13167360" cy="5431156"/>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731520" y="7494270"/>
            <a:ext cx="3413760" cy="571500"/>
          </a:xfrm>
          <a:prstGeom prst="rect">
            <a:avLst/>
          </a:prstGeom>
          <a:noFill/>
          <a:ln w="9525">
            <a:noFill/>
          </a:ln>
        </p:spPr>
        <p:txBody>
          <a:bodyPr/>
          <a:lstStyle>
            <a:lvl1pPr>
              <a:defRPr sz="168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29" name="Footer Placeholder 1028"/>
          <p:cNvSpPr/>
          <p:nvPr>
            <p:ph type="ftr" sz="quarter" idx="3"/>
          </p:nvPr>
        </p:nvSpPr>
        <p:spPr>
          <a:xfrm>
            <a:off x="4998720" y="7494270"/>
            <a:ext cx="4632960" cy="571500"/>
          </a:xfrm>
          <a:prstGeom prst="rect">
            <a:avLst/>
          </a:prstGeom>
          <a:noFill/>
          <a:ln w="9525">
            <a:noFill/>
          </a:ln>
        </p:spPr>
        <p:txBody>
          <a:bodyPr/>
          <a:lstStyle>
            <a:lvl1pPr algn="ctr">
              <a:defRPr sz="168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0" name="Slide Number Placeholder 1029"/>
          <p:cNvSpPr/>
          <p:nvPr>
            <p:ph type="sldNum" sz="quarter" idx="4"/>
          </p:nvPr>
        </p:nvSpPr>
        <p:spPr>
          <a:xfrm>
            <a:off x="10485120" y="7494270"/>
            <a:ext cx="3413760" cy="571500"/>
          </a:xfrm>
          <a:prstGeom prst="rect">
            <a:avLst/>
          </a:prstGeom>
          <a:noFill/>
          <a:ln w="9525">
            <a:noFill/>
          </a:ln>
        </p:spPr>
        <p:txBody>
          <a:bodyPr/>
          <a:lstStyle>
            <a:lvl1pPr algn="r">
              <a:defRPr sz="1680"/>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hf sldNum="0" hdr="0" ftr="0" dt="0"/>
  <p:txStyles>
    <p:titleStyle>
      <a:lvl1pPr marL="0" lvl="0" indent="0" algn="ctr" defTabSz="1097280" eaLnBrk="1" fontAlgn="base" latinLnBrk="0" hangingPunct="1">
        <a:lnSpc>
          <a:spcPct val="100000"/>
        </a:lnSpc>
        <a:spcBef>
          <a:spcPct val="0"/>
        </a:spcBef>
        <a:spcAft>
          <a:spcPct val="0"/>
        </a:spcAft>
        <a:buNone/>
        <a:defRPr sz="5280" b="0" i="0" u="none" kern="1200" baseline="0">
          <a:solidFill>
            <a:schemeClr val="tx2"/>
          </a:solidFill>
          <a:latin typeface="+mj-lt"/>
          <a:ea typeface="+mj-ea"/>
          <a:cs typeface="+mj-cs"/>
        </a:defRPr>
      </a:lvl1pPr>
    </p:titleStyle>
    <p:bodyStyle>
      <a:lvl1pPr marL="411480" lvl="0" indent="-411480" algn="l" defTabSz="1097280" eaLnBrk="1" fontAlgn="base" latinLnBrk="0" hangingPunct="1">
        <a:lnSpc>
          <a:spcPct val="100000"/>
        </a:lnSpc>
        <a:spcBef>
          <a:spcPct val="24000"/>
        </a:spcBef>
        <a:spcAft>
          <a:spcPct val="0"/>
        </a:spcAft>
        <a:buChar char="•"/>
        <a:defRPr sz="3840" b="0" i="0" u="none" kern="1200" baseline="0">
          <a:solidFill>
            <a:schemeClr val="tx1"/>
          </a:solidFill>
          <a:latin typeface="+mn-lt"/>
          <a:ea typeface="+mn-ea"/>
          <a:cs typeface="+mn-cs"/>
        </a:defRPr>
      </a:lvl1pPr>
      <a:lvl2pPr marL="891540" lvl="1" indent="-342900" algn="l" defTabSz="1097280" eaLnBrk="1" fontAlgn="base" latinLnBrk="0" hangingPunct="1">
        <a:lnSpc>
          <a:spcPct val="100000"/>
        </a:lnSpc>
        <a:spcBef>
          <a:spcPct val="24000"/>
        </a:spcBef>
        <a:spcAft>
          <a:spcPct val="0"/>
        </a:spcAft>
        <a:buChar char="–"/>
        <a:defRPr sz="3360" b="0" i="0" u="none" kern="1200" baseline="0">
          <a:solidFill>
            <a:schemeClr val="tx1"/>
          </a:solidFill>
          <a:latin typeface="+mn-lt"/>
          <a:ea typeface="+mn-ea"/>
          <a:cs typeface="+mn-cs"/>
        </a:defRPr>
      </a:lvl2pPr>
      <a:lvl3pPr marL="1371600" lvl="2" indent="-274320" algn="l" defTabSz="1097280" eaLnBrk="1" fontAlgn="base" latinLnBrk="0" hangingPunct="1">
        <a:lnSpc>
          <a:spcPct val="100000"/>
        </a:lnSpc>
        <a:spcBef>
          <a:spcPct val="24000"/>
        </a:spcBef>
        <a:spcAft>
          <a:spcPct val="0"/>
        </a:spcAft>
        <a:buChar char="•"/>
        <a:defRPr sz="2880" b="0" i="0" u="none" kern="1200" baseline="0">
          <a:solidFill>
            <a:schemeClr val="tx1"/>
          </a:solidFill>
          <a:latin typeface="+mn-lt"/>
          <a:ea typeface="+mn-ea"/>
          <a:cs typeface="+mn-cs"/>
        </a:defRPr>
      </a:lvl3pPr>
      <a:lvl4pPr marL="1920240" lvl="3"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4pPr>
      <a:lvl5pPr marL="2468880" lvl="4"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5pPr>
      <a:lvl6pPr marL="3017520" lvl="5"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6pPr>
      <a:lvl7pPr marL="3566160" lvl="6"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7pPr>
      <a:lvl8pPr marL="4114800" lvl="7"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8pPr>
      <a:lvl9pPr marL="4663440" lvl="8"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9pPr>
    </p:bodyStyle>
    <p:otherStyle>
      <a:lvl1pPr marL="0" lvl="0" indent="0" algn="l" defTabSz="1097280" eaLnBrk="1" fontAlgn="base" latinLnBrk="0" hangingPunct="1">
        <a:lnSpc>
          <a:spcPct val="100000"/>
        </a:lnSpc>
        <a:spcBef>
          <a:spcPct val="0"/>
        </a:spcBef>
        <a:spcAft>
          <a:spcPct val="0"/>
        </a:spcAft>
        <a:buFont typeface="Arial" panose="020B0604020202020204" pitchFamily="34" charset="0"/>
        <a:buNone/>
        <a:defRPr sz="2160" b="0" i="0" u="none" kern="1200" baseline="0">
          <a:solidFill>
            <a:schemeClr val="tx1"/>
          </a:solidFill>
          <a:latin typeface="+mn-lt"/>
          <a:ea typeface="+mn-ea"/>
          <a:cs typeface="+mn-cs"/>
        </a:defRPr>
      </a:lvl1pPr>
      <a:lvl2pPr marL="548640" lvl="1"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1097280" lvl="2"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645920" lvl="3"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2194560" lvl="4"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743200" lvl="5"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3291840" lvl="6"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840480" lvl="7"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4389120" lvl="8"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3.jpe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descr="LOGO 2"/>
          <p:cNvPicPr>
            <a:picLocks noChangeAspect="1"/>
          </p:cNvPicPr>
          <p:nvPr/>
        </p:nvPicPr>
        <p:blipFill>
          <a:blip r:embed="rId1"/>
          <a:stretch>
            <a:fillRect/>
          </a:stretch>
        </p:blipFill>
        <p:spPr>
          <a:xfrm>
            <a:off x="2130425" y="-348615"/>
            <a:ext cx="7962900" cy="7962900"/>
          </a:xfrm>
          <a:prstGeom prst="rect">
            <a:avLst/>
          </a:prstGeom>
        </p:spPr>
      </p:pic>
      <p:sp>
        <p:nvSpPr>
          <p:cNvPr id="4" name="Text Box 3"/>
          <p:cNvSpPr txBox="1"/>
          <p:nvPr/>
        </p:nvSpPr>
        <p:spPr>
          <a:xfrm>
            <a:off x="19050" y="78740"/>
            <a:ext cx="5019675" cy="2837180"/>
          </a:xfrm>
          <a:prstGeom prst="rect">
            <a:avLst/>
          </a:prstGeom>
          <a:noFill/>
        </p:spPr>
        <p:txBody>
          <a:bodyPr wrap="square" rtlCol="0">
            <a:noAutofit/>
            <a:scene3d>
              <a:camera prst="orthographicFront"/>
              <a:lightRig rig="threePt" dir="t"/>
            </a:scene3d>
          </a:bodyPr>
          <a:p>
            <a:pPr lvl="8"/>
            <a:r>
              <a:rPr lang="en-GB" altLang="en-US" sz="4800">
                <a:ln w="15875"/>
                <a:gradFill>
                  <a:gsLst>
                    <a:gs pos="0">
                      <a:schemeClr val="accent1">
                        <a:lumOff val="-19999"/>
                        <a:satOff val="20000"/>
                      </a:schemeClr>
                    </a:gs>
                    <a:gs pos="100000">
                      <a:schemeClr val="accent1">
                        <a:lumOff val="15000"/>
                        <a:satOff val="-14999"/>
                      </a:schemeClr>
                    </a:gs>
                  </a:gsLst>
                  <a:lin ang="0" scaled="0"/>
                </a:gradFill>
                <a:effectLst/>
              </a:rPr>
              <a:t>Welcome</a:t>
            </a:r>
            <a:endParaRPr lang="en-GB" altLang="en-US" sz="4800">
              <a:ln w="15875"/>
              <a:gradFill>
                <a:gsLst>
                  <a:gs pos="0">
                    <a:schemeClr val="accent1">
                      <a:lumOff val="-19999"/>
                      <a:satOff val="20000"/>
                    </a:schemeClr>
                  </a:gs>
                  <a:gs pos="100000">
                    <a:schemeClr val="accent1">
                      <a:lumOff val="15000"/>
                      <a:satOff val="-14999"/>
                    </a:schemeClr>
                  </a:gs>
                </a:gsLst>
                <a:lin ang="0" scaled="0"/>
              </a:gradFill>
              <a:effectLst/>
            </a:endParaRPr>
          </a:p>
          <a:p>
            <a:r>
              <a:rPr lang="en-GB" altLang="en-US" sz="4800">
                <a:ln w="15875"/>
                <a:gradFill>
                  <a:gsLst>
                    <a:gs pos="0">
                      <a:schemeClr val="accent1">
                        <a:lumOff val="-19999"/>
                        <a:satOff val="20000"/>
                      </a:schemeClr>
                    </a:gs>
                    <a:gs pos="100000">
                      <a:schemeClr val="accent1">
                        <a:lumOff val="15000"/>
                        <a:satOff val="-14999"/>
                      </a:schemeClr>
                    </a:gs>
                  </a:gsLst>
                  <a:lin ang="0" scaled="0"/>
                </a:gradFill>
                <a:effectLst/>
              </a:rPr>
              <a:t>         To</a:t>
            </a:r>
            <a:endParaRPr lang="en-GB" altLang="en-US" sz="4800">
              <a:ln w="15875"/>
              <a:gradFill>
                <a:gsLst>
                  <a:gs pos="0">
                    <a:schemeClr val="accent1">
                      <a:lumOff val="-19999"/>
                      <a:satOff val="20000"/>
                    </a:schemeClr>
                  </a:gs>
                  <a:gs pos="100000">
                    <a:schemeClr val="accent1">
                      <a:lumOff val="15000"/>
                      <a:satOff val="-14999"/>
                    </a:schemeClr>
                  </a:gs>
                </a:gsLst>
                <a:lin ang="0" scaled="0"/>
              </a:gradFill>
              <a:effectLst/>
            </a:endParaRPr>
          </a:p>
          <a:p>
            <a:r>
              <a:rPr lang="en-GB" altLang="en-US" sz="4800">
                <a:ln w="15875"/>
                <a:gradFill>
                  <a:gsLst>
                    <a:gs pos="0">
                      <a:schemeClr val="accent1">
                        <a:lumOff val="-19999"/>
                        <a:satOff val="20000"/>
                      </a:schemeClr>
                    </a:gs>
                    <a:gs pos="100000">
                      <a:schemeClr val="accent1">
                        <a:lumOff val="15000"/>
                        <a:satOff val="-14999"/>
                      </a:schemeClr>
                    </a:gs>
                  </a:gsLst>
                  <a:lin ang="0" scaled="0"/>
                </a:gradFill>
                <a:effectLst/>
              </a:rPr>
              <a:t>          HRWAYS</a:t>
            </a:r>
            <a:endParaRPr lang="en-GB" altLang="en-US" sz="4800">
              <a:ln w="15875"/>
              <a:gradFill>
                <a:gsLst>
                  <a:gs pos="0">
                    <a:schemeClr val="accent1">
                      <a:lumOff val="-19999"/>
                      <a:satOff val="20000"/>
                    </a:schemeClr>
                  </a:gs>
                  <a:gs pos="100000">
                    <a:schemeClr val="accent1">
                      <a:lumOff val="15000"/>
                      <a:satOff val="-14999"/>
                    </a:schemeClr>
                  </a:gs>
                </a:gsLst>
                <a:lin ang="0" scaled="0"/>
              </a:gradFill>
              <a:effectLst/>
            </a:endParaRPr>
          </a:p>
          <a:p>
            <a:endParaRPr lang="en-GB" altLang="en-US" sz="4800">
              <a:ln w="15875"/>
              <a:gradFill>
                <a:gsLst>
                  <a:gs pos="0">
                    <a:schemeClr val="accent1">
                      <a:lumOff val="-19999"/>
                      <a:satOff val="20000"/>
                    </a:schemeClr>
                  </a:gs>
                  <a:gs pos="100000">
                    <a:schemeClr val="accent1">
                      <a:lumOff val="15000"/>
                      <a:satOff val="-14999"/>
                    </a:schemeClr>
                  </a:gs>
                </a:gsLst>
                <a:lin ang="0" scaled="0"/>
              </a:gradFill>
              <a:effectLst/>
            </a:endParaRPr>
          </a:p>
          <a:p>
            <a:endParaRPr lang="en-GB" altLang="en-US" sz="4800">
              <a:ln w="15875"/>
              <a:gradFill>
                <a:gsLst>
                  <a:gs pos="0">
                    <a:schemeClr val="accent1">
                      <a:lumOff val="-19999"/>
                      <a:satOff val="20000"/>
                    </a:schemeClr>
                  </a:gs>
                  <a:gs pos="100000">
                    <a:schemeClr val="accent1">
                      <a:lumOff val="15000"/>
                      <a:satOff val="-14999"/>
                    </a:schemeClr>
                  </a:gs>
                </a:gsLst>
                <a:lin ang="0" scaled="0"/>
              </a:gradFill>
              <a:effectLst/>
            </a:endParaRPr>
          </a:p>
          <a:p>
            <a:endParaRPr lang="en-GB" altLang="en-US" sz="4800">
              <a:ln w="15875"/>
              <a:gradFill>
                <a:gsLst>
                  <a:gs pos="0">
                    <a:schemeClr val="accent1">
                      <a:lumOff val="-19999"/>
                      <a:satOff val="20000"/>
                    </a:schemeClr>
                  </a:gs>
                  <a:gs pos="100000">
                    <a:schemeClr val="accent1">
                      <a:lumOff val="15000"/>
                      <a:satOff val="-14999"/>
                    </a:schemeClr>
                  </a:gs>
                </a:gsLst>
                <a:lin ang="0" scaled="0"/>
              </a:gradFill>
              <a:effectLst/>
            </a:endParaRPr>
          </a:p>
          <a:p>
            <a:endParaRPr lang="en-GB" altLang="en-US" sz="4800">
              <a:ln w="15875"/>
              <a:gradFill>
                <a:gsLst>
                  <a:gs pos="0">
                    <a:schemeClr val="accent1">
                      <a:lumOff val="-19999"/>
                      <a:satOff val="20000"/>
                    </a:schemeClr>
                  </a:gs>
                  <a:gs pos="100000">
                    <a:schemeClr val="accent1">
                      <a:lumOff val="15000"/>
                      <a:satOff val="-14999"/>
                    </a:schemeClr>
                  </a:gs>
                </a:gsLst>
                <a:lin ang="0" scaled="0"/>
              </a:gradFill>
              <a:effectLst/>
            </a:endParaRPr>
          </a:p>
          <a:p>
            <a:endParaRPr lang="en-GB" altLang="en-US" sz="4800">
              <a:ln w="15875"/>
              <a:gradFill>
                <a:gsLst>
                  <a:gs pos="0">
                    <a:schemeClr val="accent1">
                      <a:lumOff val="-19999"/>
                      <a:satOff val="20000"/>
                    </a:schemeClr>
                  </a:gs>
                  <a:gs pos="100000">
                    <a:schemeClr val="accent1">
                      <a:lumOff val="15000"/>
                      <a:satOff val="-14999"/>
                    </a:schemeClr>
                  </a:gs>
                </a:gsLst>
                <a:lin ang="0" scaled="0"/>
              </a:gradFill>
              <a:effectLst/>
            </a:endParaRPr>
          </a:p>
          <a:p>
            <a:r>
              <a:rPr lang="en-GB" altLang="en-US" sz="4800">
                <a:ln w="15875"/>
                <a:gradFill>
                  <a:gsLst>
                    <a:gs pos="0">
                      <a:schemeClr val="accent1">
                        <a:lumOff val="-19999"/>
                        <a:satOff val="20000"/>
                      </a:schemeClr>
                    </a:gs>
                    <a:gs pos="100000">
                      <a:schemeClr val="accent1">
                        <a:lumOff val="15000"/>
                        <a:satOff val="-14999"/>
                      </a:schemeClr>
                    </a:gs>
                  </a:gsLst>
                  <a:lin ang="0" scaled="0"/>
                </a:gradFill>
                <a:effectLst/>
              </a:rPr>
              <a:t>                                                      </a:t>
            </a:r>
            <a:endParaRPr lang="en-GB" altLang="en-US" sz="4000">
              <a:ln w="15875"/>
              <a:gradFill>
                <a:gsLst>
                  <a:gs pos="0">
                    <a:schemeClr val="accent1">
                      <a:lumOff val="-19999"/>
                      <a:satOff val="20000"/>
                    </a:schemeClr>
                  </a:gs>
                  <a:gs pos="100000">
                    <a:schemeClr val="accent1">
                      <a:lumOff val="15000"/>
                      <a:satOff val="-14999"/>
                    </a:schemeClr>
                  </a:gs>
                </a:gsLst>
                <a:lin ang="0" scaled="0"/>
              </a:gradFill>
              <a:effectLst/>
            </a:endParaRPr>
          </a:p>
        </p:txBody>
      </p:sp>
      <p:sp>
        <p:nvSpPr>
          <p:cNvPr id="5" name="Text Box 4"/>
          <p:cNvSpPr txBox="1"/>
          <p:nvPr/>
        </p:nvSpPr>
        <p:spPr>
          <a:xfrm>
            <a:off x="7199630" y="5525770"/>
            <a:ext cx="7485380" cy="2629535"/>
          </a:xfrm>
          <a:prstGeom prst="rect">
            <a:avLst/>
          </a:prstGeom>
          <a:solidFill>
            <a:schemeClr val="bg1">
              <a:lumMod val="95000"/>
            </a:schemeClr>
          </a:solidFill>
        </p:spPr>
        <p:txBody>
          <a:bodyPr wrap="square" rtlCol="0">
            <a:noAutofit/>
            <a:scene3d>
              <a:camera prst="orthographicFront"/>
              <a:lightRig rig="threePt" dir="t"/>
            </a:scene3d>
          </a:bodyPr>
          <a:p>
            <a:r>
              <a:rPr lang="en-GB" altLang="en-US" sz="4000">
                <a:ln w="15875"/>
                <a:gradFill>
                  <a:gsLst>
                    <a:gs pos="0">
                      <a:schemeClr val="accent1">
                        <a:lumOff val="-19999"/>
                        <a:satOff val="20000"/>
                      </a:schemeClr>
                    </a:gs>
                    <a:gs pos="100000">
                      <a:schemeClr val="accent1">
                        <a:lumOff val="15000"/>
                        <a:satOff val="-14999"/>
                      </a:schemeClr>
                    </a:gs>
                  </a:gsLst>
                  <a:lin ang="0" scaled="0"/>
                </a:gradFill>
                <a:effectLst/>
              </a:rPr>
              <a:t>Made by Script Surfers</a:t>
            </a:r>
            <a:endParaRPr lang="en-GB" altLang="en-US" sz="4000">
              <a:ln w="15875"/>
              <a:gradFill>
                <a:gsLst>
                  <a:gs pos="0">
                    <a:schemeClr val="accent1">
                      <a:lumOff val="-19999"/>
                      <a:satOff val="20000"/>
                    </a:schemeClr>
                  </a:gs>
                  <a:gs pos="100000">
                    <a:schemeClr val="accent1">
                      <a:lumOff val="15000"/>
                      <a:satOff val="-14999"/>
                    </a:schemeClr>
                  </a:gs>
                </a:gsLst>
                <a:lin ang="0" scaled="0"/>
              </a:gradFill>
              <a:effectLst/>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2" name="Text 0"/>
          <p:cNvSpPr txBox="1"/>
          <p:nvPr/>
        </p:nvSpPr>
        <p:spPr>
          <a:xfrm>
            <a:off x="116840" y="184785"/>
            <a:ext cx="8256905" cy="2668270"/>
          </a:xfrm>
          <a:prstGeom prst="rect">
            <a:avLst/>
          </a:prstGeom>
          <a:ln w="12700">
            <a:miter lim="400000"/>
          </a:ln>
        </p:spPr>
        <p:txBody>
          <a:bodyPr lIns="0" tIns="0" rIns="0" bIns="0">
            <a:noAutofit/>
          </a:bodyPr>
          <a:lstStyle>
            <a:lvl1pPr>
              <a:lnSpc>
                <a:spcPts val="7700"/>
              </a:lnSpc>
              <a:defRPr sz="6100">
                <a:solidFill>
                  <a:srgbClr val="201B18"/>
                </a:solidFill>
                <a:latin typeface="Platypi Medium"/>
                <a:ea typeface="Platypi Medium"/>
                <a:cs typeface="Platypi Medium"/>
                <a:sym typeface="Platypi Medium"/>
              </a:defRPr>
            </a:lvl1pPr>
          </a:lstStyle>
          <a:p>
            <a:r>
              <a:t>Haryana Roadways Bus Tracker: Real-Time Location and More</a:t>
            </a:r>
          </a:p>
        </p:txBody>
      </p:sp>
      <p:sp>
        <p:nvSpPr>
          <p:cNvPr id="93" name="Text 1"/>
          <p:cNvSpPr txBox="1"/>
          <p:nvPr/>
        </p:nvSpPr>
        <p:spPr>
          <a:xfrm>
            <a:off x="434340" y="4376420"/>
            <a:ext cx="5863590" cy="1971040"/>
          </a:xfrm>
          <a:prstGeom prst="rect">
            <a:avLst/>
          </a:prstGeom>
          <a:ln w="12700">
            <a:miter lim="400000"/>
          </a:ln>
        </p:spPr>
        <p:txBody>
          <a:bodyPr lIns="0" tIns="0" rIns="0" bIns="0">
            <a:noAutofit/>
          </a:bodyPr>
          <a:lstStyle>
            <a:lvl1pPr>
              <a:lnSpc>
                <a:spcPts val="2800"/>
              </a:lnSpc>
              <a:defRPr sz="1700">
                <a:solidFill>
                  <a:srgbClr val="504C49"/>
                </a:solidFill>
                <a:latin typeface="Source Serif Pro"/>
                <a:ea typeface="Source Serif Pro"/>
                <a:cs typeface="Source Serif Pro"/>
                <a:sym typeface="Source Serif Pro"/>
              </a:defRPr>
            </a:lvl1pPr>
          </a:lstStyle>
          <a:p>
            <a:r>
              <a:t>Commuters in Haryana face challenges with unpredictable public transportation. This new mobile app aims to provide real-time visibility into bus locations, routes, schedules and alerts - empowering users to plan their journeys with confidence.</a:t>
            </a:r>
          </a:p>
        </p:txBody>
      </p:sp>
      <p:pic>
        <p:nvPicPr>
          <p:cNvPr id="94" name="🚎.jpeg" descr="🚎.jpeg"/>
          <p:cNvPicPr>
            <a:picLocks noChangeAspect="1"/>
          </p:cNvPicPr>
          <p:nvPr/>
        </p:nvPicPr>
        <p:blipFill>
          <a:blip r:embed="rId1"/>
          <a:srcRect t="7817" b="7817"/>
          <a:stretch>
            <a:fillRect/>
          </a:stretch>
        </p:blipFill>
        <p:spPr>
          <a:xfrm>
            <a:off x="8545830" y="-13335"/>
            <a:ext cx="6098540" cy="8256270"/>
          </a:xfrm>
          <a:prstGeom prst="rect">
            <a:avLst/>
          </a:prstGeom>
          <a:ln w="12700" cap="flat">
            <a:noFill/>
            <a:miter lim="400000"/>
            <a:headEnd/>
            <a:tailEnd/>
          </a:ln>
          <a:effectLst/>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Image 0" descr="Image 0"/>
          <p:cNvPicPr>
            <a:picLocks noChangeAspect="1"/>
          </p:cNvPicPr>
          <p:nvPr/>
        </p:nvPicPr>
        <p:blipFill>
          <a:blip r:embed="rId1"/>
          <a:stretch>
            <a:fillRect/>
          </a:stretch>
        </p:blipFill>
        <p:spPr>
          <a:xfrm>
            <a:off x="0" y="0"/>
            <a:ext cx="5486400" cy="8229600"/>
          </a:xfrm>
          <a:prstGeom prst="rect">
            <a:avLst/>
          </a:prstGeom>
          <a:ln w="12700">
            <a:miter lim="400000"/>
            <a:headEnd/>
            <a:tailEnd/>
          </a:ln>
        </p:spPr>
      </p:pic>
      <p:sp>
        <p:nvSpPr>
          <p:cNvPr id="100" name="Text 0"/>
          <p:cNvSpPr txBox="1"/>
          <p:nvPr/>
        </p:nvSpPr>
        <p:spPr>
          <a:xfrm>
            <a:off x="6240145" y="280035"/>
            <a:ext cx="7637145" cy="2787650"/>
          </a:xfrm>
          <a:prstGeom prst="rect">
            <a:avLst/>
          </a:prstGeom>
          <a:ln w="12700">
            <a:miter lim="400000"/>
          </a:ln>
        </p:spPr>
        <p:txBody>
          <a:bodyPr lIns="0" tIns="0" rIns="0" bIns="0">
            <a:noAutofit/>
          </a:bodyPr>
          <a:lstStyle>
            <a:lvl1pPr algn="ctr">
              <a:lnSpc>
                <a:spcPts val="5200"/>
              </a:lnSpc>
              <a:defRPr sz="4200">
                <a:solidFill>
                  <a:srgbClr val="201B18"/>
                </a:solidFill>
                <a:latin typeface="Platypi Medium"/>
                <a:ea typeface="Platypi Medium"/>
                <a:cs typeface="Platypi Medium"/>
                <a:sym typeface="Platypi Medium"/>
              </a:defRPr>
            </a:lvl1pPr>
          </a:lstStyle>
          <a:p>
            <a:r>
              <a:t>Introduction to the Problem: Lack of Transparency in Public Transportation</a:t>
            </a:r>
          </a:p>
        </p:txBody>
      </p:sp>
      <p:sp>
        <p:nvSpPr>
          <p:cNvPr id="101" name="Shape 1"/>
          <p:cNvSpPr/>
          <p:nvPr/>
        </p:nvSpPr>
        <p:spPr>
          <a:xfrm>
            <a:off x="6239828" y="3679268"/>
            <a:ext cx="484348" cy="484348"/>
          </a:xfrm>
          <a:prstGeom prst="roundRect">
            <a:avLst>
              <a:gd name="adj" fmla="val 6667"/>
            </a:avLst>
          </a:prstGeom>
          <a:solidFill>
            <a:srgbClr val="F9F7F7"/>
          </a:solidFill>
          <a:ln w="12700">
            <a:miter lim="400000"/>
          </a:ln>
        </p:spPr>
        <p:txBody>
          <a:bodyPr lIns="45718" tIns="45718" rIns="45718" bIns="45718"/>
          <a:lstStyle/>
          <a:p/>
        </p:txBody>
      </p:sp>
      <p:sp>
        <p:nvSpPr>
          <p:cNvPr id="102" name="Text 2"/>
          <p:cNvSpPr txBox="1"/>
          <p:nvPr/>
        </p:nvSpPr>
        <p:spPr>
          <a:xfrm>
            <a:off x="6387362" y="3759994"/>
            <a:ext cx="189279" cy="327019"/>
          </a:xfrm>
          <a:prstGeom prst="rect">
            <a:avLst/>
          </a:prstGeom>
          <a:ln w="12700">
            <a:miter lim="400000"/>
          </a:ln>
        </p:spPr>
        <p:txBody>
          <a:bodyPr wrap="none" lIns="0" tIns="0" rIns="0" bIns="0">
            <a:spAutoFit/>
          </a:bodyPr>
          <a:lstStyle>
            <a:lvl1pPr algn="ctr">
              <a:lnSpc>
                <a:spcPts val="2500"/>
              </a:lnSpc>
              <a:defRPr sz="2500">
                <a:solidFill>
                  <a:srgbClr val="504C49"/>
                </a:solidFill>
                <a:latin typeface="Platypi Medium"/>
                <a:ea typeface="Platypi Medium"/>
                <a:cs typeface="Platypi Medium"/>
                <a:sym typeface="Platypi Medium"/>
              </a:defRPr>
            </a:lvl1pPr>
          </a:lstStyle>
          <a:p>
            <a:r>
              <a:t>1</a:t>
            </a:r>
          </a:p>
        </p:txBody>
      </p:sp>
      <p:sp>
        <p:nvSpPr>
          <p:cNvPr id="103" name="Text 3"/>
          <p:cNvSpPr txBox="1"/>
          <p:nvPr/>
        </p:nvSpPr>
        <p:spPr>
          <a:xfrm>
            <a:off x="6939439" y="3679268"/>
            <a:ext cx="2606905" cy="325496"/>
          </a:xfrm>
          <a:prstGeom prst="rect">
            <a:avLst/>
          </a:prstGeom>
          <a:ln w="12700">
            <a:miter lim="400000"/>
          </a:ln>
        </p:spPr>
        <p:txBody>
          <a:bodyPr wrap="none" lIns="0" tIns="0" rIns="0" bIns="0">
            <a:spAutoFit/>
          </a:bodyPr>
          <a:lstStyle>
            <a:lvl1pPr>
              <a:lnSpc>
                <a:spcPts val="2600"/>
              </a:lnSpc>
              <a:defRPr sz="2100">
                <a:solidFill>
                  <a:srgbClr val="504C49"/>
                </a:solidFill>
                <a:latin typeface="Platypi Medium"/>
                <a:ea typeface="Platypi Medium"/>
                <a:cs typeface="Platypi Medium"/>
                <a:sym typeface="Platypi Medium"/>
              </a:defRPr>
            </a:lvl1pPr>
          </a:lstStyle>
          <a:p>
            <a:r>
              <a:t>Unpredictable Arrivals</a:t>
            </a:r>
          </a:p>
        </p:txBody>
      </p:sp>
      <p:sp>
        <p:nvSpPr>
          <p:cNvPr id="104" name="Text 4"/>
          <p:cNvSpPr txBox="1"/>
          <p:nvPr/>
        </p:nvSpPr>
        <p:spPr>
          <a:xfrm>
            <a:off x="6939439" y="4144683"/>
            <a:ext cx="3011331" cy="1349753"/>
          </a:xfrm>
          <a:prstGeom prst="rect">
            <a:avLst/>
          </a:prstGeom>
          <a:ln w="12700">
            <a:miter lim="400000"/>
          </a:ln>
        </p:spPr>
        <p:txBody>
          <a:bodyPr lIns="0" tIns="0" rIns="0" bIns="0">
            <a:spAutoFit/>
          </a:bodyPr>
          <a:lstStyle>
            <a:lvl1pPr>
              <a:lnSpc>
                <a:spcPts val="2700"/>
              </a:lnSpc>
              <a:defRPr sz="1600">
                <a:solidFill>
                  <a:srgbClr val="504C49"/>
                </a:solidFill>
                <a:latin typeface="Source Serif Pro"/>
                <a:ea typeface="Source Serif Pro"/>
                <a:cs typeface="Source Serif Pro"/>
                <a:sym typeface="Source Serif Pro"/>
              </a:defRPr>
            </a:lvl1pPr>
          </a:lstStyle>
          <a:p>
            <a:r>
              <a:t>Commuters often have no way to know when their bus will arrive, leading to frustration and wasted time.</a:t>
            </a:r>
          </a:p>
        </p:txBody>
      </p:sp>
      <p:sp>
        <p:nvSpPr>
          <p:cNvPr id="105" name="Shape 5"/>
          <p:cNvSpPr/>
          <p:nvPr/>
        </p:nvSpPr>
        <p:spPr>
          <a:xfrm>
            <a:off x="10166032" y="3679268"/>
            <a:ext cx="484348" cy="484348"/>
          </a:xfrm>
          <a:prstGeom prst="roundRect">
            <a:avLst>
              <a:gd name="adj" fmla="val 6667"/>
            </a:avLst>
          </a:prstGeom>
          <a:solidFill>
            <a:srgbClr val="F9F7F7"/>
          </a:solidFill>
          <a:ln w="12700">
            <a:miter lim="400000"/>
          </a:ln>
        </p:spPr>
        <p:txBody>
          <a:bodyPr lIns="45718" tIns="45718" rIns="45718" bIns="45718"/>
          <a:lstStyle/>
          <a:p/>
        </p:txBody>
      </p:sp>
      <p:sp>
        <p:nvSpPr>
          <p:cNvPr id="106" name="Text 6"/>
          <p:cNvSpPr txBox="1"/>
          <p:nvPr/>
        </p:nvSpPr>
        <p:spPr>
          <a:xfrm>
            <a:off x="10313565" y="3759994"/>
            <a:ext cx="189280" cy="327019"/>
          </a:xfrm>
          <a:prstGeom prst="rect">
            <a:avLst/>
          </a:prstGeom>
          <a:ln w="12700">
            <a:miter lim="400000"/>
          </a:ln>
        </p:spPr>
        <p:txBody>
          <a:bodyPr wrap="none" lIns="0" tIns="0" rIns="0" bIns="0">
            <a:spAutoFit/>
          </a:bodyPr>
          <a:lstStyle>
            <a:lvl1pPr algn="ctr">
              <a:lnSpc>
                <a:spcPts val="2500"/>
              </a:lnSpc>
              <a:defRPr sz="2500">
                <a:solidFill>
                  <a:srgbClr val="504C49"/>
                </a:solidFill>
                <a:latin typeface="Platypi Medium"/>
                <a:ea typeface="Platypi Medium"/>
                <a:cs typeface="Platypi Medium"/>
                <a:sym typeface="Platypi Medium"/>
              </a:defRPr>
            </a:lvl1pPr>
          </a:lstStyle>
          <a:p>
            <a:r>
              <a:t>2</a:t>
            </a:r>
          </a:p>
        </p:txBody>
      </p:sp>
      <p:sp>
        <p:nvSpPr>
          <p:cNvPr id="107" name="Text 7"/>
          <p:cNvSpPr txBox="1"/>
          <p:nvPr/>
        </p:nvSpPr>
        <p:spPr>
          <a:xfrm>
            <a:off x="10865643" y="3679268"/>
            <a:ext cx="1850821" cy="325496"/>
          </a:xfrm>
          <a:prstGeom prst="rect">
            <a:avLst/>
          </a:prstGeom>
          <a:ln w="12700">
            <a:miter lim="400000"/>
          </a:ln>
        </p:spPr>
        <p:txBody>
          <a:bodyPr wrap="none" lIns="0" tIns="0" rIns="0" bIns="0">
            <a:spAutoFit/>
          </a:bodyPr>
          <a:lstStyle>
            <a:lvl1pPr>
              <a:lnSpc>
                <a:spcPts val="2600"/>
              </a:lnSpc>
              <a:defRPr sz="2100">
                <a:solidFill>
                  <a:srgbClr val="504C49"/>
                </a:solidFill>
                <a:latin typeface="Platypi Medium"/>
                <a:ea typeface="Platypi Medium"/>
                <a:cs typeface="Platypi Medium"/>
                <a:sym typeface="Platypi Medium"/>
              </a:defRPr>
            </a:lvl1pPr>
          </a:lstStyle>
          <a:p>
            <a:r>
              <a:t>Unclear Routes</a:t>
            </a:r>
          </a:p>
        </p:txBody>
      </p:sp>
      <p:sp>
        <p:nvSpPr>
          <p:cNvPr id="108" name="Text 8"/>
          <p:cNvSpPr txBox="1"/>
          <p:nvPr/>
        </p:nvSpPr>
        <p:spPr>
          <a:xfrm>
            <a:off x="10865642" y="4144683"/>
            <a:ext cx="3011331" cy="1349753"/>
          </a:xfrm>
          <a:prstGeom prst="rect">
            <a:avLst/>
          </a:prstGeom>
          <a:ln w="12700">
            <a:miter lim="400000"/>
          </a:ln>
        </p:spPr>
        <p:txBody>
          <a:bodyPr lIns="0" tIns="0" rIns="0" bIns="0">
            <a:spAutoFit/>
          </a:bodyPr>
          <a:lstStyle>
            <a:lvl1pPr>
              <a:lnSpc>
                <a:spcPts val="2700"/>
              </a:lnSpc>
              <a:defRPr sz="1600">
                <a:solidFill>
                  <a:srgbClr val="504C49"/>
                </a:solidFill>
                <a:latin typeface="Source Serif Pro"/>
                <a:ea typeface="Source Serif Pro"/>
                <a:cs typeface="Source Serif Pro"/>
                <a:sym typeface="Source Serif Pro"/>
              </a:defRPr>
            </a:lvl1pPr>
          </a:lstStyle>
          <a:p>
            <a:r>
              <a:t>Navigating the bus system is difficult without easy access to route maps and schedule information.</a:t>
            </a:r>
          </a:p>
        </p:txBody>
      </p:sp>
      <p:sp>
        <p:nvSpPr>
          <p:cNvPr id="109" name="Shape 9"/>
          <p:cNvSpPr/>
          <p:nvPr/>
        </p:nvSpPr>
        <p:spPr>
          <a:xfrm>
            <a:off x="6239828" y="5979438"/>
            <a:ext cx="484348" cy="484348"/>
          </a:xfrm>
          <a:prstGeom prst="roundRect">
            <a:avLst>
              <a:gd name="adj" fmla="val 6667"/>
            </a:avLst>
          </a:prstGeom>
          <a:solidFill>
            <a:srgbClr val="F9F7F7"/>
          </a:solidFill>
          <a:ln w="12700">
            <a:miter lim="400000"/>
          </a:ln>
        </p:spPr>
        <p:txBody>
          <a:bodyPr lIns="45718" tIns="45718" rIns="45718" bIns="45718"/>
          <a:lstStyle/>
          <a:p/>
        </p:txBody>
      </p:sp>
      <p:sp>
        <p:nvSpPr>
          <p:cNvPr id="110" name="Text 10"/>
          <p:cNvSpPr txBox="1"/>
          <p:nvPr/>
        </p:nvSpPr>
        <p:spPr>
          <a:xfrm>
            <a:off x="6387362" y="6060161"/>
            <a:ext cx="189279" cy="327019"/>
          </a:xfrm>
          <a:prstGeom prst="rect">
            <a:avLst/>
          </a:prstGeom>
          <a:ln w="12700">
            <a:miter lim="400000"/>
          </a:ln>
        </p:spPr>
        <p:txBody>
          <a:bodyPr wrap="none" lIns="0" tIns="0" rIns="0" bIns="0">
            <a:spAutoFit/>
          </a:bodyPr>
          <a:lstStyle>
            <a:lvl1pPr algn="ctr">
              <a:lnSpc>
                <a:spcPts val="2500"/>
              </a:lnSpc>
              <a:defRPr sz="2500">
                <a:solidFill>
                  <a:srgbClr val="504C49"/>
                </a:solidFill>
                <a:latin typeface="Platypi Medium"/>
                <a:ea typeface="Platypi Medium"/>
                <a:cs typeface="Platypi Medium"/>
                <a:sym typeface="Platypi Medium"/>
              </a:defRPr>
            </a:lvl1pPr>
          </a:lstStyle>
          <a:p>
            <a:r>
              <a:t>3</a:t>
            </a:r>
          </a:p>
        </p:txBody>
      </p:sp>
      <p:sp>
        <p:nvSpPr>
          <p:cNvPr id="111" name="Text 11"/>
          <p:cNvSpPr txBox="1"/>
          <p:nvPr/>
        </p:nvSpPr>
        <p:spPr>
          <a:xfrm>
            <a:off x="6939439" y="5979438"/>
            <a:ext cx="1613812" cy="325496"/>
          </a:xfrm>
          <a:prstGeom prst="rect">
            <a:avLst/>
          </a:prstGeom>
          <a:ln w="12700">
            <a:miter lim="400000"/>
          </a:ln>
        </p:spPr>
        <p:txBody>
          <a:bodyPr wrap="none" lIns="0" tIns="0" rIns="0" bIns="0">
            <a:spAutoFit/>
          </a:bodyPr>
          <a:lstStyle>
            <a:lvl1pPr>
              <a:lnSpc>
                <a:spcPts val="2600"/>
              </a:lnSpc>
              <a:defRPr sz="2100">
                <a:solidFill>
                  <a:srgbClr val="504C49"/>
                </a:solidFill>
                <a:latin typeface="Platypi Medium"/>
                <a:ea typeface="Platypi Medium"/>
                <a:cs typeface="Platypi Medium"/>
                <a:sym typeface="Platypi Medium"/>
              </a:defRPr>
            </a:lvl1pPr>
          </a:lstStyle>
          <a:p>
            <a:r>
              <a:t>Lack of Alerts</a:t>
            </a:r>
          </a:p>
        </p:txBody>
      </p:sp>
      <p:sp>
        <p:nvSpPr>
          <p:cNvPr id="112" name="Text 12"/>
          <p:cNvSpPr txBox="1"/>
          <p:nvPr/>
        </p:nvSpPr>
        <p:spPr>
          <a:xfrm>
            <a:off x="6939439" y="6444853"/>
            <a:ext cx="6937535" cy="663953"/>
          </a:xfrm>
          <a:prstGeom prst="rect">
            <a:avLst/>
          </a:prstGeom>
          <a:ln w="12700">
            <a:miter lim="400000"/>
          </a:ln>
        </p:spPr>
        <p:txBody>
          <a:bodyPr lIns="0" tIns="0" rIns="0" bIns="0">
            <a:spAutoFit/>
          </a:bodyPr>
          <a:lstStyle>
            <a:lvl1pPr>
              <a:lnSpc>
                <a:spcPts val="2700"/>
              </a:lnSpc>
              <a:defRPr sz="1600">
                <a:solidFill>
                  <a:srgbClr val="504C49"/>
                </a:solidFill>
                <a:latin typeface="Source Serif Pro"/>
                <a:ea typeface="Source Serif Pro"/>
                <a:cs typeface="Source Serif Pro"/>
                <a:sym typeface="Source Serif Pro"/>
              </a:defRPr>
            </a:lvl1pPr>
          </a:lstStyle>
          <a:p>
            <a:r>
              <a:t>Commuters have no way to proactively plan for delays or service changes, leading to missed connections.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 0"/>
          <p:cNvSpPr txBox="1"/>
          <p:nvPr/>
        </p:nvSpPr>
        <p:spPr>
          <a:xfrm>
            <a:off x="705325" y="592215"/>
            <a:ext cx="7733349" cy="1856351"/>
          </a:xfrm>
          <a:prstGeom prst="rect">
            <a:avLst/>
          </a:prstGeom>
          <a:ln w="12700">
            <a:miter lim="400000"/>
          </a:ln>
        </p:spPr>
        <p:txBody>
          <a:bodyPr lIns="0" tIns="0" rIns="0" bIns="0">
            <a:spAutoFit/>
          </a:bodyPr>
          <a:lstStyle>
            <a:lvl1pPr>
              <a:lnSpc>
                <a:spcPts val="4900"/>
              </a:lnSpc>
              <a:defRPr sz="3900">
                <a:solidFill>
                  <a:srgbClr val="201B18"/>
                </a:solidFill>
                <a:latin typeface="Platypi Medium"/>
                <a:ea typeface="Platypi Medium"/>
                <a:cs typeface="Platypi Medium"/>
                <a:sym typeface="Platypi Medium"/>
              </a:defRPr>
            </a:lvl1pPr>
          </a:lstStyle>
          <a:p>
            <a:r>
              <a:t>Key Features: Real-Time Bus Tracking, Route Information, Schedules, and Alerts</a:t>
            </a:r>
          </a:p>
        </p:txBody>
      </p:sp>
      <p:sp>
        <p:nvSpPr>
          <p:cNvPr id="123" name="Shape 1"/>
          <p:cNvSpPr/>
          <p:nvPr/>
        </p:nvSpPr>
        <p:spPr>
          <a:xfrm>
            <a:off x="996076" y="2783919"/>
            <a:ext cx="22862" cy="4853464"/>
          </a:xfrm>
          <a:prstGeom prst="roundRect">
            <a:avLst>
              <a:gd name="adj" fmla="val 50000"/>
            </a:avLst>
          </a:prstGeom>
          <a:solidFill>
            <a:srgbClr val="D8D4D4"/>
          </a:solidFill>
          <a:ln w="12700">
            <a:miter lim="400000"/>
          </a:ln>
        </p:spPr>
        <p:txBody>
          <a:bodyPr lIns="45718" tIns="45718" rIns="45718" bIns="45718"/>
          <a:lstStyle/>
          <a:p/>
        </p:txBody>
      </p:sp>
      <p:sp>
        <p:nvSpPr>
          <p:cNvPr id="124" name="Shape 2"/>
          <p:cNvSpPr/>
          <p:nvPr/>
        </p:nvSpPr>
        <p:spPr>
          <a:xfrm>
            <a:off x="1211340" y="3225879"/>
            <a:ext cx="705328" cy="22862"/>
          </a:xfrm>
          <a:prstGeom prst="roundRect">
            <a:avLst>
              <a:gd name="adj" fmla="val 50000"/>
            </a:avLst>
          </a:prstGeom>
          <a:solidFill>
            <a:srgbClr val="D8D4D4"/>
          </a:solidFill>
          <a:ln w="12700">
            <a:miter lim="400000"/>
          </a:ln>
        </p:spPr>
        <p:txBody>
          <a:bodyPr lIns="45718" tIns="45718" rIns="45718" bIns="45718"/>
          <a:lstStyle/>
          <a:p/>
        </p:txBody>
      </p:sp>
      <p:sp>
        <p:nvSpPr>
          <p:cNvPr id="125" name="Shape 3"/>
          <p:cNvSpPr/>
          <p:nvPr/>
        </p:nvSpPr>
        <p:spPr>
          <a:xfrm>
            <a:off x="780811" y="3010612"/>
            <a:ext cx="453391" cy="453392"/>
          </a:xfrm>
          <a:prstGeom prst="roundRect">
            <a:avLst>
              <a:gd name="adj" fmla="val 6667"/>
            </a:avLst>
          </a:prstGeom>
          <a:solidFill>
            <a:srgbClr val="F9F7F7"/>
          </a:solidFill>
          <a:ln w="12700">
            <a:miter lim="400000"/>
          </a:ln>
        </p:spPr>
        <p:txBody>
          <a:bodyPr lIns="45718" tIns="45718" rIns="45718" bIns="45718"/>
          <a:lstStyle/>
          <a:p/>
        </p:txBody>
      </p:sp>
      <p:sp>
        <p:nvSpPr>
          <p:cNvPr id="126" name="Text 4"/>
          <p:cNvSpPr txBox="1"/>
          <p:nvPr/>
        </p:nvSpPr>
        <p:spPr>
          <a:xfrm>
            <a:off x="919929" y="3086100"/>
            <a:ext cx="175154" cy="300858"/>
          </a:xfrm>
          <a:prstGeom prst="rect">
            <a:avLst/>
          </a:prstGeom>
          <a:ln w="12700">
            <a:miter lim="400000"/>
          </a:ln>
        </p:spPr>
        <p:txBody>
          <a:bodyPr wrap="none" lIns="0" tIns="0" rIns="0" bIns="0">
            <a:spAutoFit/>
          </a:bodyPr>
          <a:lstStyle>
            <a:lvl1pPr algn="ctr">
              <a:lnSpc>
                <a:spcPts val="2300"/>
              </a:lnSpc>
              <a:defRPr sz="2300">
                <a:solidFill>
                  <a:srgbClr val="504C49"/>
                </a:solidFill>
                <a:latin typeface="Platypi Medium"/>
                <a:ea typeface="Platypi Medium"/>
                <a:cs typeface="Platypi Medium"/>
                <a:sym typeface="Platypi Medium"/>
              </a:defRPr>
            </a:lvl1pPr>
          </a:lstStyle>
          <a:p>
            <a:r>
              <a:t>1</a:t>
            </a:r>
          </a:p>
        </p:txBody>
      </p:sp>
      <p:sp>
        <p:nvSpPr>
          <p:cNvPr id="127" name="Text 5"/>
          <p:cNvSpPr txBox="1"/>
          <p:nvPr/>
        </p:nvSpPr>
        <p:spPr>
          <a:xfrm>
            <a:off x="2115859" y="2985373"/>
            <a:ext cx="2038183" cy="299335"/>
          </a:xfrm>
          <a:prstGeom prst="rect">
            <a:avLst/>
          </a:prstGeom>
          <a:ln w="12700">
            <a:miter lim="400000"/>
          </a:ln>
        </p:spPr>
        <p:txBody>
          <a:bodyPr wrap="none" lIns="0" tIns="0" rIns="0" bIns="0">
            <a:spAutoFit/>
          </a:bodyPr>
          <a:lstStyle>
            <a:lvl1pPr>
              <a:lnSpc>
                <a:spcPts val="2400"/>
              </a:lnSpc>
              <a:defRPr sz="1900">
                <a:solidFill>
                  <a:srgbClr val="504C49"/>
                </a:solidFill>
                <a:latin typeface="Platypi Medium"/>
                <a:ea typeface="Platypi Medium"/>
                <a:cs typeface="Platypi Medium"/>
                <a:sym typeface="Platypi Medium"/>
              </a:defRPr>
            </a:lvl1pPr>
          </a:lstStyle>
          <a:p>
            <a:r>
              <a:t>Live Bus Locations</a:t>
            </a:r>
          </a:p>
        </p:txBody>
      </p:sp>
      <p:sp>
        <p:nvSpPr>
          <p:cNvPr id="128" name="Text 6"/>
          <p:cNvSpPr txBox="1"/>
          <p:nvPr/>
        </p:nvSpPr>
        <p:spPr>
          <a:xfrm>
            <a:off x="2115859" y="3421141"/>
            <a:ext cx="6322817" cy="615312"/>
          </a:xfrm>
          <a:prstGeom prst="rect">
            <a:avLst/>
          </a:prstGeom>
          <a:ln w="12700">
            <a:miter lim="400000"/>
          </a:ln>
        </p:spPr>
        <p:txBody>
          <a:bodyPr lIns="0" tIns="0" rIns="0" bIns="0">
            <a:spAutoFit/>
          </a:bodyPr>
          <a:lstStyle>
            <a:lvl1pPr>
              <a:lnSpc>
                <a:spcPts val="2500"/>
              </a:lnSpc>
              <a:defRPr sz="1500">
                <a:solidFill>
                  <a:srgbClr val="504C49"/>
                </a:solidFill>
                <a:latin typeface="Source Serif Pro"/>
                <a:ea typeface="Source Serif Pro"/>
                <a:cs typeface="Source Serif Pro"/>
                <a:sym typeface="Source Serif Pro"/>
              </a:defRPr>
            </a:lvl1pPr>
          </a:lstStyle>
          <a:p>
            <a:r>
              <a:t>Commuters can see the real-time position of buses on a map, allowing them to time their arrivals.</a:t>
            </a:r>
          </a:p>
        </p:txBody>
      </p:sp>
      <p:sp>
        <p:nvSpPr>
          <p:cNvPr id="129" name="Shape 7"/>
          <p:cNvSpPr/>
          <p:nvPr/>
        </p:nvSpPr>
        <p:spPr>
          <a:xfrm>
            <a:off x="1211340" y="4910852"/>
            <a:ext cx="705328" cy="22862"/>
          </a:xfrm>
          <a:prstGeom prst="roundRect">
            <a:avLst>
              <a:gd name="adj" fmla="val 50000"/>
            </a:avLst>
          </a:prstGeom>
          <a:solidFill>
            <a:srgbClr val="D8D4D4"/>
          </a:solidFill>
          <a:ln w="12700">
            <a:miter lim="400000"/>
          </a:ln>
        </p:spPr>
        <p:txBody>
          <a:bodyPr lIns="45718" tIns="45718" rIns="45718" bIns="45718"/>
          <a:lstStyle/>
          <a:p/>
        </p:txBody>
      </p:sp>
      <p:sp>
        <p:nvSpPr>
          <p:cNvPr id="130" name="Shape 8"/>
          <p:cNvSpPr/>
          <p:nvPr/>
        </p:nvSpPr>
        <p:spPr>
          <a:xfrm>
            <a:off x="780811" y="4695587"/>
            <a:ext cx="453391" cy="453392"/>
          </a:xfrm>
          <a:prstGeom prst="roundRect">
            <a:avLst>
              <a:gd name="adj" fmla="val 6667"/>
            </a:avLst>
          </a:prstGeom>
          <a:solidFill>
            <a:srgbClr val="F9F7F7"/>
          </a:solidFill>
          <a:ln w="12700">
            <a:miter lim="400000"/>
          </a:ln>
        </p:spPr>
        <p:txBody>
          <a:bodyPr lIns="45718" tIns="45718" rIns="45718" bIns="45718"/>
          <a:lstStyle/>
          <a:p/>
        </p:txBody>
      </p:sp>
      <p:sp>
        <p:nvSpPr>
          <p:cNvPr id="131" name="Text 9"/>
          <p:cNvSpPr txBox="1"/>
          <p:nvPr/>
        </p:nvSpPr>
        <p:spPr>
          <a:xfrm>
            <a:off x="919930" y="4771073"/>
            <a:ext cx="175154" cy="300858"/>
          </a:xfrm>
          <a:prstGeom prst="rect">
            <a:avLst/>
          </a:prstGeom>
          <a:ln w="12700">
            <a:miter lim="400000"/>
          </a:ln>
        </p:spPr>
        <p:txBody>
          <a:bodyPr wrap="none" lIns="0" tIns="0" rIns="0" bIns="0">
            <a:spAutoFit/>
          </a:bodyPr>
          <a:lstStyle>
            <a:lvl1pPr algn="ctr">
              <a:lnSpc>
                <a:spcPts val="2300"/>
              </a:lnSpc>
              <a:defRPr sz="2300">
                <a:solidFill>
                  <a:srgbClr val="504C49"/>
                </a:solidFill>
                <a:latin typeface="Platypi Medium"/>
                <a:ea typeface="Platypi Medium"/>
                <a:cs typeface="Platypi Medium"/>
                <a:sym typeface="Platypi Medium"/>
              </a:defRPr>
            </a:lvl1pPr>
          </a:lstStyle>
          <a:p>
            <a:r>
              <a:t>2</a:t>
            </a:r>
          </a:p>
        </p:txBody>
      </p:sp>
      <p:sp>
        <p:nvSpPr>
          <p:cNvPr id="132" name="Text 10"/>
          <p:cNvSpPr txBox="1"/>
          <p:nvPr/>
        </p:nvSpPr>
        <p:spPr>
          <a:xfrm>
            <a:off x="2115859" y="4670345"/>
            <a:ext cx="1461207" cy="299335"/>
          </a:xfrm>
          <a:prstGeom prst="rect">
            <a:avLst/>
          </a:prstGeom>
          <a:ln w="12700">
            <a:miter lim="400000"/>
          </a:ln>
        </p:spPr>
        <p:txBody>
          <a:bodyPr wrap="none" lIns="0" tIns="0" rIns="0" bIns="0">
            <a:spAutoFit/>
          </a:bodyPr>
          <a:lstStyle>
            <a:lvl1pPr>
              <a:lnSpc>
                <a:spcPts val="2400"/>
              </a:lnSpc>
              <a:defRPr sz="1900">
                <a:solidFill>
                  <a:srgbClr val="504C49"/>
                </a:solidFill>
                <a:latin typeface="Platypi Medium"/>
                <a:ea typeface="Platypi Medium"/>
                <a:cs typeface="Platypi Medium"/>
                <a:sym typeface="Platypi Medium"/>
              </a:defRPr>
            </a:lvl1pPr>
          </a:lstStyle>
          <a:p>
            <a:r>
              <a:t>Route Details</a:t>
            </a:r>
          </a:p>
        </p:txBody>
      </p:sp>
      <p:sp>
        <p:nvSpPr>
          <p:cNvPr id="133" name="Text 11"/>
          <p:cNvSpPr txBox="1"/>
          <p:nvPr/>
        </p:nvSpPr>
        <p:spPr>
          <a:xfrm>
            <a:off x="2115859" y="5106113"/>
            <a:ext cx="6322817" cy="615312"/>
          </a:xfrm>
          <a:prstGeom prst="rect">
            <a:avLst/>
          </a:prstGeom>
          <a:ln w="12700">
            <a:miter lim="400000"/>
          </a:ln>
        </p:spPr>
        <p:txBody>
          <a:bodyPr lIns="0" tIns="0" rIns="0" bIns="0">
            <a:spAutoFit/>
          </a:bodyPr>
          <a:lstStyle>
            <a:lvl1pPr>
              <a:lnSpc>
                <a:spcPts val="2500"/>
              </a:lnSpc>
              <a:defRPr sz="1500">
                <a:solidFill>
                  <a:srgbClr val="504C49"/>
                </a:solidFill>
                <a:latin typeface="Source Serif Pro"/>
                <a:ea typeface="Source Serif Pro"/>
                <a:cs typeface="Source Serif Pro"/>
                <a:sym typeface="Source Serif Pro"/>
              </a:defRPr>
            </a:lvl1pPr>
          </a:lstStyle>
          <a:p>
            <a:r>
              <a:t>Comprehensive route information, including pickup/drop-off points and estimated travel times.</a:t>
            </a:r>
          </a:p>
        </p:txBody>
      </p:sp>
      <p:sp>
        <p:nvSpPr>
          <p:cNvPr id="134" name="Shape 12"/>
          <p:cNvSpPr/>
          <p:nvPr/>
        </p:nvSpPr>
        <p:spPr>
          <a:xfrm>
            <a:off x="1211340" y="6595822"/>
            <a:ext cx="705328" cy="22862"/>
          </a:xfrm>
          <a:prstGeom prst="roundRect">
            <a:avLst>
              <a:gd name="adj" fmla="val 50000"/>
            </a:avLst>
          </a:prstGeom>
          <a:solidFill>
            <a:srgbClr val="D8D4D4"/>
          </a:solidFill>
          <a:ln w="12700">
            <a:miter lim="400000"/>
          </a:ln>
        </p:spPr>
        <p:txBody>
          <a:bodyPr lIns="45718" tIns="45718" rIns="45718" bIns="45718"/>
          <a:lstStyle/>
          <a:p/>
        </p:txBody>
      </p:sp>
      <p:sp>
        <p:nvSpPr>
          <p:cNvPr id="135" name="Shape 13"/>
          <p:cNvSpPr/>
          <p:nvPr/>
        </p:nvSpPr>
        <p:spPr>
          <a:xfrm>
            <a:off x="780811" y="6380557"/>
            <a:ext cx="453391" cy="453392"/>
          </a:xfrm>
          <a:prstGeom prst="roundRect">
            <a:avLst>
              <a:gd name="adj" fmla="val 6667"/>
            </a:avLst>
          </a:prstGeom>
          <a:solidFill>
            <a:srgbClr val="F9F7F7"/>
          </a:solidFill>
          <a:ln w="12700">
            <a:miter lim="400000"/>
          </a:ln>
        </p:spPr>
        <p:txBody>
          <a:bodyPr lIns="45718" tIns="45718" rIns="45718" bIns="45718"/>
          <a:lstStyle/>
          <a:p/>
        </p:txBody>
      </p:sp>
      <p:sp>
        <p:nvSpPr>
          <p:cNvPr id="136" name="Text 14"/>
          <p:cNvSpPr txBox="1"/>
          <p:nvPr/>
        </p:nvSpPr>
        <p:spPr>
          <a:xfrm>
            <a:off x="919929" y="6456045"/>
            <a:ext cx="175154" cy="300858"/>
          </a:xfrm>
          <a:prstGeom prst="rect">
            <a:avLst/>
          </a:prstGeom>
          <a:ln w="12700">
            <a:miter lim="400000"/>
          </a:ln>
        </p:spPr>
        <p:txBody>
          <a:bodyPr wrap="none" lIns="0" tIns="0" rIns="0" bIns="0">
            <a:spAutoFit/>
          </a:bodyPr>
          <a:lstStyle>
            <a:lvl1pPr algn="ctr">
              <a:lnSpc>
                <a:spcPts val="2300"/>
              </a:lnSpc>
              <a:defRPr sz="2300">
                <a:solidFill>
                  <a:srgbClr val="504C49"/>
                </a:solidFill>
                <a:latin typeface="Platypi Medium"/>
                <a:ea typeface="Platypi Medium"/>
                <a:cs typeface="Platypi Medium"/>
                <a:sym typeface="Platypi Medium"/>
              </a:defRPr>
            </a:lvl1pPr>
          </a:lstStyle>
          <a:p>
            <a:r>
              <a:t>3</a:t>
            </a:r>
          </a:p>
        </p:txBody>
      </p:sp>
      <p:sp>
        <p:nvSpPr>
          <p:cNvPr id="137" name="Text 15"/>
          <p:cNvSpPr txBox="1"/>
          <p:nvPr/>
        </p:nvSpPr>
        <p:spPr>
          <a:xfrm>
            <a:off x="2115859" y="6355317"/>
            <a:ext cx="2038183" cy="299335"/>
          </a:xfrm>
          <a:prstGeom prst="rect">
            <a:avLst/>
          </a:prstGeom>
          <a:ln w="12700">
            <a:miter lim="400000"/>
          </a:ln>
        </p:spPr>
        <p:txBody>
          <a:bodyPr wrap="none" lIns="0" tIns="0" rIns="0" bIns="0">
            <a:spAutoFit/>
          </a:bodyPr>
          <a:lstStyle>
            <a:lvl1pPr>
              <a:lnSpc>
                <a:spcPts val="2400"/>
              </a:lnSpc>
              <a:defRPr sz="1900">
                <a:solidFill>
                  <a:srgbClr val="504C49"/>
                </a:solidFill>
                <a:latin typeface="Platypi Medium"/>
                <a:ea typeface="Platypi Medium"/>
                <a:cs typeface="Platypi Medium"/>
                <a:sym typeface="Platypi Medium"/>
              </a:defRPr>
            </a:lvl1pPr>
          </a:lstStyle>
          <a:p>
            <a:r>
              <a:t>Schedules &amp; Alerts</a:t>
            </a:r>
          </a:p>
        </p:txBody>
      </p:sp>
      <p:sp>
        <p:nvSpPr>
          <p:cNvPr id="138" name="Text 16"/>
          <p:cNvSpPr txBox="1"/>
          <p:nvPr/>
        </p:nvSpPr>
        <p:spPr>
          <a:xfrm>
            <a:off x="2115859" y="6791087"/>
            <a:ext cx="6322817" cy="615312"/>
          </a:xfrm>
          <a:prstGeom prst="rect">
            <a:avLst/>
          </a:prstGeom>
          <a:ln w="12700">
            <a:miter lim="400000"/>
          </a:ln>
        </p:spPr>
        <p:txBody>
          <a:bodyPr lIns="0" tIns="0" rIns="0" bIns="0">
            <a:spAutoFit/>
          </a:bodyPr>
          <a:lstStyle>
            <a:lvl1pPr>
              <a:lnSpc>
                <a:spcPts val="2500"/>
              </a:lnSpc>
              <a:defRPr sz="1500">
                <a:solidFill>
                  <a:srgbClr val="504C49"/>
                </a:solidFill>
                <a:latin typeface="Source Serif Pro"/>
                <a:ea typeface="Source Serif Pro"/>
                <a:cs typeface="Source Serif Pro"/>
                <a:sym typeface="Source Serif Pro"/>
              </a:defRPr>
            </a:lvl1pPr>
          </a:lstStyle>
          <a:p>
            <a:r>
              <a:t>Access to bus schedules and proactive notifications about delays, detours or service changes.</a:t>
            </a:r>
          </a:p>
        </p:txBody>
      </p:sp>
      <p:pic>
        <p:nvPicPr>
          <p:cNvPr id="139" name="WhatsApp Image 2024-10-19 at 15.20.43.jpeg" descr="WhatsApp Image 2024-10-19 at 15.20.43.jpeg"/>
          <p:cNvPicPr>
            <a:picLocks noChangeAspect="1"/>
          </p:cNvPicPr>
          <p:nvPr/>
        </p:nvPicPr>
        <p:blipFill>
          <a:blip r:embed="rId1"/>
          <a:srcRect l="14493" r="14493"/>
          <a:stretch>
            <a:fillRect/>
          </a:stretch>
        </p:blipFill>
        <p:spPr>
          <a:xfrm>
            <a:off x="8831580" y="-1270"/>
            <a:ext cx="5845810" cy="8232775"/>
          </a:xfrm>
          <a:prstGeom prst="rect">
            <a:avLst/>
          </a:prstGeom>
          <a:ln w="12700" cap="flat">
            <a:noFill/>
            <a:miter lim="400000"/>
            <a:headEnd/>
            <a:tailEnd/>
          </a:ln>
          <a:effectLst/>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 name="Image 0" descr="Image 0"/>
          <p:cNvPicPr>
            <a:picLocks noChangeAspect="1"/>
          </p:cNvPicPr>
          <p:nvPr/>
        </p:nvPicPr>
        <p:blipFill>
          <a:blip r:embed="rId1"/>
          <a:stretch>
            <a:fillRect/>
          </a:stretch>
        </p:blipFill>
        <p:spPr>
          <a:xfrm>
            <a:off x="9144000" y="0"/>
            <a:ext cx="5486400" cy="8229600"/>
          </a:xfrm>
          <a:prstGeom prst="rect">
            <a:avLst/>
          </a:prstGeom>
          <a:ln w="12700">
            <a:miter lim="400000"/>
            <a:headEnd/>
            <a:tailEnd/>
          </a:ln>
        </p:spPr>
      </p:pic>
      <p:sp>
        <p:nvSpPr>
          <p:cNvPr id="144" name="Text 0"/>
          <p:cNvSpPr txBox="1"/>
          <p:nvPr/>
        </p:nvSpPr>
        <p:spPr>
          <a:xfrm>
            <a:off x="644842" y="553045"/>
            <a:ext cx="7854316" cy="1705348"/>
          </a:xfrm>
          <a:prstGeom prst="rect">
            <a:avLst/>
          </a:prstGeom>
          <a:ln w="12700">
            <a:miter lim="400000"/>
          </a:ln>
        </p:spPr>
        <p:txBody>
          <a:bodyPr lIns="0" tIns="0" rIns="0" bIns="0">
            <a:spAutoFit/>
          </a:bodyPr>
          <a:lstStyle>
            <a:lvl1pPr>
              <a:lnSpc>
                <a:spcPts val="4500"/>
              </a:lnSpc>
              <a:defRPr sz="3600">
                <a:solidFill>
                  <a:srgbClr val="201B18"/>
                </a:solidFill>
                <a:latin typeface="Platypi Medium"/>
                <a:ea typeface="Platypi Medium"/>
                <a:cs typeface="Platypi Medium"/>
                <a:sym typeface="Platypi Medium"/>
              </a:defRPr>
            </a:lvl1pPr>
          </a:lstStyle>
          <a:p>
            <a:r>
              <a:t>Technology Stack: Leveraging GPS, APIs, and Mobile Development Frameworks</a:t>
            </a:r>
          </a:p>
        </p:txBody>
      </p:sp>
      <p:pic>
        <p:nvPicPr>
          <p:cNvPr id="145" name="Image 1" descr="Image 1"/>
          <p:cNvPicPr>
            <a:picLocks noChangeAspect="1"/>
          </p:cNvPicPr>
          <p:nvPr/>
        </p:nvPicPr>
        <p:blipFill>
          <a:blip r:embed="rId2"/>
          <a:stretch>
            <a:fillRect/>
          </a:stretch>
        </p:blipFill>
        <p:spPr>
          <a:xfrm>
            <a:off x="644843" y="2556748"/>
            <a:ext cx="460653" cy="460653"/>
          </a:xfrm>
          <a:prstGeom prst="rect">
            <a:avLst/>
          </a:prstGeom>
          <a:ln w="12700">
            <a:miter lim="400000"/>
            <a:headEnd/>
            <a:tailEnd/>
          </a:ln>
        </p:spPr>
      </p:pic>
      <p:sp>
        <p:nvSpPr>
          <p:cNvPr id="146" name="Text 1"/>
          <p:cNvSpPr txBox="1"/>
          <p:nvPr/>
        </p:nvSpPr>
        <p:spPr>
          <a:xfrm>
            <a:off x="644841" y="3201591"/>
            <a:ext cx="1423146" cy="276094"/>
          </a:xfrm>
          <a:prstGeom prst="rect">
            <a:avLst/>
          </a:prstGeom>
          <a:ln w="12700">
            <a:miter lim="400000"/>
          </a:ln>
        </p:spPr>
        <p:txBody>
          <a:bodyPr wrap="none" lIns="0" tIns="0" rIns="0" bIns="0">
            <a:spAutoFit/>
          </a:bodyPr>
          <a:lstStyle>
            <a:lvl1pPr>
              <a:lnSpc>
                <a:spcPts val="2200"/>
              </a:lnSpc>
              <a:defRPr>
                <a:solidFill>
                  <a:srgbClr val="504C49"/>
                </a:solidFill>
                <a:latin typeface="Platypi Medium"/>
                <a:ea typeface="Platypi Medium"/>
                <a:cs typeface="Platypi Medium"/>
                <a:sym typeface="Platypi Medium"/>
              </a:defRPr>
            </a:lvl1pPr>
          </a:lstStyle>
          <a:p>
            <a:r>
              <a:t>GPS Tracking</a:t>
            </a:r>
          </a:p>
        </p:txBody>
      </p:sp>
      <p:sp>
        <p:nvSpPr>
          <p:cNvPr id="147" name="Text 2"/>
          <p:cNvSpPr txBox="1"/>
          <p:nvPr/>
        </p:nvSpPr>
        <p:spPr>
          <a:xfrm>
            <a:off x="644842" y="3599974"/>
            <a:ext cx="4753397" cy="274571"/>
          </a:xfrm>
          <a:prstGeom prst="rect">
            <a:avLst/>
          </a:prstGeom>
          <a:ln w="12700">
            <a:miter lim="400000"/>
          </a:ln>
        </p:spPr>
        <p:txBody>
          <a:bodyPr wrap="none" lIns="0" tIns="0" rIns="0" bIns="0">
            <a:spAutoFit/>
          </a:bodyPr>
          <a:lstStyle>
            <a:lvl1pPr>
              <a:lnSpc>
                <a:spcPts val="2300"/>
              </a:lnSpc>
              <a:defRPr sz="1400">
                <a:solidFill>
                  <a:srgbClr val="504C49"/>
                </a:solidFill>
                <a:latin typeface="Source Serif Pro"/>
                <a:ea typeface="Source Serif Pro"/>
                <a:cs typeface="Source Serif Pro"/>
                <a:sym typeface="Source Serif Pro"/>
              </a:defRPr>
            </a:lvl1pPr>
          </a:lstStyle>
          <a:p>
            <a:r>
              <a:t>Real-time bus locations are captured using GPS technology.</a:t>
            </a:r>
          </a:p>
        </p:txBody>
      </p:sp>
      <p:pic>
        <p:nvPicPr>
          <p:cNvPr id="148" name="Image 2" descr="Image 2"/>
          <p:cNvPicPr>
            <a:picLocks noChangeAspect="1"/>
          </p:cNvPicPr>
          <p:nvPr/>
        </p:nvPicPr>
        <p:blipFill>
          <a:blip r:embed="rId3"/>
          <a:stretch>
            <a:fillRect/>
          </a:stretch>
        </p:blipFill>
        <p:spPr>
          <a:xfrm>
            <a:off x="644843" y="4447580"/>
            <a:ext cx="460653" cy="460655"/>
          </a:xfrm>
          <a:prstGeom prst="rect">
            <a:avLst/>
          </a:prstGeom>
          <a:ln w="12700">
            <a:miter lim="400000"/>
            <a:headEnd/>
            <a:tailEnd/>
          </a:ln>
        </p:spPr>
      </p:pic>
      <p:sp>
        <p:nvSpPr>
          <p:cNvPr id="149" name="Text 3"/>
          <p:cNvSpPr txBox="1"/>
          <p:nvPr/>
        </p:nvSpPr>
        <p:spPr>
          <a:xfrm>
            <a:off x="644841" y="5092422"/>
            <a:ext cx="1524944" cy="276094"/>
          </a:xfrm>
          <a:prstGeom prst="rect">
            <a:avLst/>
          </a:prstGeom>
          <a:ln w="12700">
            <a:miter lim="400000"/>
          </a:ln>
        </p:spPr>
        <p:txBody>
          <a:bodyPr wrap="none" lIns="0" tIns="0" rIns="0" bIns="0">
            <a:spAutoFit/>
          </a:bodyPr>
          <a:lstStyle>
            <a:lvl1pPr>
              <a:lnSpc>
                <a:spcPts val="2200"/>
              </a:lnSpc>
              <a:defRPr>
                <a:solidFill>
                  <a:srgbClr val="504C49"/>
                </a:solidFill>
                <a:latin typeface="Platypi Medium"/>
                <a:ea typeface="Platypi Medium"/>
                <a:cs typeface="Platypi Medium"/>
                <a:sym typeface="Platypi Medium"/>
              </a:defRPr>
            </a:lvl1pPr>
          </a:lstStyle>
          <a:p>
            <a:r>
              <a:t>API Integration</a:t>
            </a:r>
          </a:p>
        </p:txBody>
      </p:sp>
      <p:sp>
        <p:nvSpPr>
          <p:cNvPr id="150" name="Text 4"/>
          <p:cNvSpPr txBox="1"/>
          <p:nvPr/>
        </p:nvSpPr>
        <p:spPr>
          <a:xfrm>
            <a:off x="644842" y="5490805"/>
            <a:ext cx="6975116" cy="274571"/>
          </a:xfrm>
          <a:prstGeom prst="rect">
            <a:avLst/>
          </a:prstGeom>
          <a:ln w="12700">
            <a:miter lim="400000"/>
          </a:ln>
        </p:spPr>
        <p:txBody>
          <a:bodyPr wrap="none" lIns="0" tIns="0" rIns="0" bIns="0">
            <a:spAutoFit/>
          </a:bodyPr>
          <a:lstStyle>
            <a:lvl1pPr>
              <a:lnSpc>
                <a:spcPts val="2300"/>
              </a:lnSpc>
              <a:defRPr sz="1400">
                <a:solidFill>
                  <a:srgbClr val="504C49"/>
                </a:solidFill>
                <a:latin typeface="Source Serif Pro"/>
                <a:ea typeface="Source Serif Pro"/>
                <a:cs typeface="Source Serif Pro"/>
                <a:sym typeface="Source Serif Pro"/>
              </a:defRPr>
            </a:lvl1pPr>
          </a:lstStyle>
          <a:p>
            <a:r>
              <a:t>The app connects to Haryana Roadways' APIs to fetch route, schedule and service data.</a:t>
            </a:r>
          </a:p>
        </p:txBody>
      </p:sp>
      <p:pic>
        <p:nvPicPr>
          <p:cNvPr id="151" name="Image 3" descr="Image 3"/>
          <p:cNvPicPr>
            <a:picLocks noChangeAspect="1"/>
          </p:cNvPicPr>
          <p:nvPr/>
        </p:nvPicPr>
        <p:blipFill>
          <a:blip r:embed="rId4"/>
          <a:stretch>
            <a:fillRect/>
          </a:stretch>
        </p:blipFill>
        <p:spPr>
          <a:xfrm>
            <a:off x="644843" y="6338411"/>
            <a:ext cx="460653" cy="460655"/>
          </a:xfrm>
          <a:prstGeom prst="rect">
            <a:avLst/>
          </a:prstGeom>
          <a:ln w="12700">
            <a:miter lim="400000"/>
            <a:headEnd/>
            <a:tailEnd/>
          </a:ln>
        </p:spPr>
      </p:pic>
      <p:sp>
        <p:nvSpPr>
          <p:cNvPr id="152" name="Text 5"/>
          <p:cNvSpPr txBox="1"/>
          <p:nvPr/>
        </p:nvSpPr>
        <p:spPr>
          <a:xfrm>
            <a:off x="644841" y="6983254"/>
            <a:ext cx="2007036" cy="276094"/>
          </a:xfrm>
          <a:prstGeom prst="rect">
            <a:avLst/>
          </a:prstGeom>
          <a:ln w="12700">
            <a:miter lim="400000"/>
          </a:ln>
        </p:spPr>
        <p:txBody>
          <a:bodyPr wrap="none" lIns="0" tIns="0" rIns="0" bIns="0">
            <a:spAutoFit/>
          </a:bodyPr>
          <a:lstStyle>
            <a:lvl1pPr>
              <a:lnSpc>
                <a:spcPts val="2200"/>
              </a:lnSpc>
              <a:defRPr>
                <a:solidFill>
                  <a:srgbClr val="504C49"/>
                </a:solidFill>
                <a:latin typeface="Platypi Medium"/>
                <a:ea typeface="Platypi Medium"/>
                <a:cs typeface="Platypi Medium"/>
                <a:sym typeface="Platypi Medium"/>
              </a:defRPr>
            </a:lvl1pPr>
          </a:lstStyle>
          <a:p>
            <a:r>
              <a:t>Mobile Frameworks</a:t>
            </a:r>
          </a:p>
        </p:txBody>
      </p:sp>
      <p:sp>
        <p:nvSpPr>
          <p:cNvPr id="153" name="Text 6"/>
          <p:cNvSpPr txBox="1"/>
          <p:nvPr/>
        </p:nvSpPr>
        <p:spPr>
          <a:xfrm>
            <a:off x="644842" y="7381637"/>
            <a:ext cx="6663185" cy="274571"/>
          </a:xfrm>
          <a:prstGeom prst="rect">
            <a:avLst/>
          </a:prstGeom>
          <a:ln w="12700">
            <a:miter lim="400000"/>
          </a:ln>
        </p:spPr>
        <p:txBody>
          <a:bodyPr wrap="none" lIns="0" tIns="0" rIns="0" bIns="0">
            <a:spAutoFit/>
          </a:bodyPr>
          <a:lstStyle>
            <a:lvl1pPr>
              <a:lnSpc>
                <a:spcPts val="2300"/>
              </a:lnSpc>
              <a:defRPr sz="1400">
                <a:solidFill>
                  <a:srgbClr val="504C49"/>
                </a:solidFill>
                <a:latin typeface="Source Serif Pro"/>
                <a:ea typeface="Source Serif Pro"/>
                <a:cs typeface="Source Serif Pro"/>
                <a:sym typeface="Source Serif Pro"/>
              </a:defRPr>
            </a:lvl1pPr>
          </a:lstStyle>
          <a:p>
            <a:r>
              <a:t>The app is built using popular cross-platform frameworks like React Native or Flutter.</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 name="Image 0" descr="Image 0"/>
          <p:cNvPicPr>
            <a:picLocks noChangeAspect="1"/>
          </p:cNvPicPr>
          <p:nvPr/>
        </p:nvPicPr>
        <p:blipFill>
          <a:blip r:embed="rId1"/>
          <a:stretch>
            <a:fillRect/>
          </a:stretch>
        </p:blipFill>
        <p:spPr>
          <a:xfrm>
            <a:off x="-13817" y="-2"/>
            <a:ext cx="5486403" cy="8229602"/>
          </a:xfrm>
          <a:prstGeom prst="rect">
            <a:avLst/>
          </a:prstGeom>
          <a:ln w="12700">
            <a:miter lim="400000"/>
            <a:headEnd/>
            <a:tailEnd/>
          </a:ln>
        </p:spPr>
      </p:pic>
      <p:sp>
        <p:nvSpPr>
          <p:cNvPr id="156" name="Text 0"/>
          <p:cNvSpPr txBox="1"/>
          <p:nvPr/>
        </p:nvSpPr>
        <p:spPr>
          <a:xfrm>
            <a:off x="6280189" y="735328"/>
            <a:ext cx="7556422" cy="2084315"/>
          </a:xfrm>
          <a:prstGeom prst="rect">
            <a:avLst/>
          </a:prstGeom>
          <a:ln w="12700">
            <a:miter lim="400000"/>
          </a:ln>
        </p:spPr>
        <p:txBody>
          <a:bodyPr lIns="0" tIns="0" rIns="0" bIns="0">
            <a:spAutoFit/>
          </a:bodyPr>
          <a:lstStyle>
            <a:lvl1pPr>
              <a:lnSpc>
                <a:spcPts val="5500"/>
              </a:lnSpc>
              <a:defRPr sz="4400">
                <a:solidFill>
                  <a:srgbClr val="201B18"/>
                </a:solidFill>
                <a:latin typeface="Platypi Medium"/>
                <a:ea typeface="Platypi Medium"/>
                <a:cs typeface="Platypi Medium"/>
                <a:sym typeface="Platypi Medium"/>
              </a:defRPr>
            </a:lvl1pPr>
          </a:lstStyle>
          <a:p>
            <a:r>
              <a:t>User Experience Design: Intuitive Interface and Responsive Design</a:t>
            </a:r>
          </a:p>
        </p:txBody>
      </p:sp>
      <p:sp>
        <p:nvSpPr>
          <p:cNvPr id="157" name="Shape 1"/>
          <p:cNvSpPr/>
          <p:nvPr/>
        </p:nvSpPr>
        <p:spPr>
          <a:xfrm>
            <a:off x="6280189" y="3201828"/>
            <a:ext cx="3664866" cy="2395660"/>
          </a:xfrm>
          <a:prstGeom prst="roundRect">
            <a:avLst>
              <a:gd name="adj" fmla="val 1420"/>
            </a:avLst>
          </a:prstGeom>
          <a:solidFill>
            <a:srgbClr val="F9F7F7"/>
          </a:solidFill>
          <a:ln w="12700">
            <a:miter lim="400000"/>
          </a:ln>
        </p:spPr>
        <p:txBody>
          <a:bodyPr lIns="45718" tIns="45718" rIns="45718" bIns="45718"/>
          <a:lstStyle/>
          <a:p/>
        </p:txBody>
      </p:sp>
      <p:sp>
        <p:nvSpPr>
          <p:cNvPr id="158" name="Text 2"/>
          <p:cNvSpPr txBox="1"/>
          <p:nvPr/>
        </p:nvSpPr>
        <p:spPr>
          <a:xfrm>
            <a:off x="6507004" y="3428643"/>
            <a:ext cx="1907519" cy="338577"/>
          </a:xfrm>
          <a:prstGeom prst="rect">
            <a:avLst/>
          </a:prstGeom>
          <a:ln w="12700">
            <a:miter lim="400000"/>
          </a:ln>
        </p:spPr>
        <p:txBody>
          <a:bodyPr wrap="none" lIns="0" tIns="0" rIns="0" bIns="0">
            <a:spAutoFit/>
          </a:bodyPr>
          <a:lstStyle>
            <a:lvl1pPr>
              <a:lnSpc>
                <a:spcPts val="2700"/>
              </a:lnSpc>
              <a:defRPr sz="2200">
                <a:solidFill>
                  <a:srgbClr val="504C49"/>
                </a:solidFill>
                <a:latin typeface="Platypi Medium"/>
                <a:ea typeface="Platypi Medium"/>
                <a:cs typeface="Platypi Medium"/>
                <a:sym typeface="Platypi Medium"/>
              </a:defRPr>
            </a:lvl1pPr>
          </a:lstStyle>
          <a:p>
            <a:r>
              <a:t>Clean Interface</a:t>
            </a:r>
          </a:p>
        </p:txBody>
      </p:sp>
      <p:sp>
        <p:nvSpPr>
          <p:cNvPr id="159" name="Text 3"/>
          <p:cNvSpPr txBox="1"/>
          <p:nvPr/>
        </p:nvSpPr>
        <p:spPr>
          <a:xfrm>
            <a:off x="6507004" y="3919061"/>
            <a:ext cx="3211237" cy="1400933"/>
          </a:xfrm>
          <a:prstGeom prst="rect">
            <a:avLst/>
          </a:prstGeom>
          <a:ln w="12700">
            <a:miter lim="400000"/>
          </a:ln>
        </p:spPr>
        <p:txBody>
          <a:bodyPr lIns="0" tIns="0" rIns="0" bIns="0">
            <a:spAutoFit/>
          </a:bodyPr>
          <a:lstStyle>
            <a:lvl1pPr>
              <a:lnSpc>
                <a:spcPts val="2800"/>
              </a:lnSpc>
              <a:defRPr sz="1700">
                <a:solidFill>
                  <a:srgbClr val="504C49"/>
                </a:solidFill>
                <a:latin typeface="Source Serif Pro"/>
                <a:ea typeface="Source Serif Pro"/>
                <a:cs typeface="Source Serif Pro"/>
                <a:sym typeface="Source Serif Pro"/>
              </a:defRPr>
            </a:lvl1pPr>
          </a:lstStyle>
          <a:p>
            <a:r>
              <a:t>The app features a minimal, uncluttered design to ensure easy navigation and information access.</a:t>
            </a:r>
          </a:p>
        </p:txBody>
      </p:sp>
      <p:sp>
        <p:nvSpPr>
          <p:cNvPr id="160" name="Shape 4"/>
          <p:cNvSpPr/>
          <p:nvPr/>
        </p:nvSpPr>
        <p:spPr>
          <a:xfrm>
            <a:off x="10171865" y="3201828"/>
            <a:ext cx="3664865" cy="2395660"/>
          </a:xfrm>
          <a:prstGeom prst="roundRect">
            <a:avLst>
              <a:gd name="adj" fmla="val 1420"/>
            </a:avLst>
          </a:prstGeom>
          <a:solidFill>
            <a:srgbClr val="F9F7F7"/>
          </a:solidFill>
          <a:ln w="12700">
            <a:miter lim="400000"/>
          </a:ln>
        </p:spPr>
        <p:txBody>
          <a:bodyPr lIns="45718" tIns="45718" rIns="45718" bIns="45718"/>
          <a:lstStyle/>
          <a:p/>
        </p:txBody>
      </p:sp>
      <p:sp>
        <p:nvSpPr>
          <p:cNvPr id="161" name="Text 5"/>
          <p:cNvSpPr txBox="1"/>
          <p:nvPr/>
        </p:nvSpPr>
        <p:spPr>
          <a:xfrm>
            <a:off x="10398679" y="3428643"/>
            <a:ext cx="2389102" cy="338577"/>
          </a:xfrm>
          <a:prstGeom prst="rect">
            <a:avLst/>
          </a:prstGeom>
          <a:ln w="12700">
            <a:miter lim="400000"/>
          </a:ln>
        </p:spPr>
        <p:txBody>
          <a:bodyPr wrap="none" lIns="0" tIns="0" rIns="0" bIns="0">
            <a:spAutoFit/>
          </a:bodyPr>
          <a:lstStyle>
            <a:lvl1pPr>
              <a:lnSpc>
                <a:spcPts val="2700"/>
              </a:lnSpc>
              <a:defRPr sz="2200">
                <a:solidFill>
                  <a:srgbClr val="504C49"/>
                </a:solidFill>
                <a:latin typeface="Platypi Medium"/>
                <a:ea typeface="Platypi Medium"/>
                <a:cs typeface="Platypi Medium"/>
                <a:sym typeface="Platypi Medium"/>
              </a:defRPr>
            </a:lvl1pPr>
          </a:lstStyle>
          <a:p>
            <a:r>
              <a:t>Responsive Layout</a:t>
            </a:r>
          </a:p>
        </p:txBody>
      </p:sp>
      <p:sp>
        <p:nvSpPr>
          <p:cNvPr id="162" name="Text 6"/>
          <p:cNvSpPr txBox="1"/>
          <p:nvPr/>
        </p:nvSpPr>
        <p:spPr>
          <a:xfrm>
            <a:off x="10398680" y="3919061"/>
            <a:ext cx="3211236" cy="1400933"/>
          </a:xfrm>
          <a:prstGeom prst="rect">
            <a:avLst/>
          </a:prstGeom>
          <a:ln w="12700">
            <a:miter lim="400000"/>
          </a:ln>
        </p:spPr>
        <p:txBody>
          <a:bodyPr lIns="0" tIns="0" rIns="0" bIns="0">
            <a:spAutoFit/>
          </a:bodyPr>
          <a:lstStyle>
            <a:lvl1pPr>
              <a:lnSpc>
                <a:spcPts val="2800"/>
              </a:lnSpc>
              <a:defRPr sz="1700">
                <a:solidFill>
                  <a:srgbClr val="504C49"/>
                </a:solidFill>
                <a:latin typeface="Source Serif Pro"/>
                <a:ea typeface="Source Serif Pro"/>
                <a:cs typeface="Source Serif Pro"/>
                <a:sym typeface="Source Serif Pro"/>
              </a:defRPr>
            </a:lvl1pPr>
          </a:lstStyle>
          <a:p>
            <a:r>
              <a:t>The app automatically adapts to different screen sizes and devices, providing a seamless experience.</a:t>
            </a:r>
          </a:p>
        </p:txBody>
      </p:sp>
      <p:sp>
        <p:nvSpPr>
          <p:cNvPr id="163" name="Shape 7"/>
          <p:cNvSpPr/>
          <p:nvPr/>
        </p:nvSpPr>
        <p:spPr>
          <a:xfrm>
            <a:off x="6280189" y="5824299"/>
            <a:ext cx="7556422" cy="1669854"/>
          </a:xfrm>
          <a:prstGeom prst="roundRect">
            <a:avLst>
              <a:gd name="adj" fmla="val 2038"/>
            </a:avLst>
          </a:prstGeom>
          <a:solidFill>
            <a:srgbClr val="F9F7F7"/>
          </a:solidFill>
          <a:ln w="12700">
            <a:miter lim="400000"/>
          </a:ln>
        </p:spPr>
        <p:txBody>
          <a:bodyPr lIns="45718" tIns="45718" rIns="45718" bIns="45718"/>
          <a:lstStyle/>
          <a:p/>
        </p:txBody>
      </p:sp>
      <p:sp>
        <p:nvSpPr>
          <p:cNvPr id="164" name="Text 8"/>
          <p:cNvSpPr txBox="1"/>
          <p:nvPr/>
        </p:nvSpPr>
        <p:spPr>
          <a:xfrm>
            <a:off x="6507004" y="6051112"/>
            <a:ext cx="2373413" cy="338577"/>
          </a:xfrm>
          <a:prstGeom prst="rect">
            <a:avLst/>
          </a:prstGeom>
          <a:ln w="12700">
            <a:miter lim="400000"/>
          </a:ln>
        </p:spPr>
        <p:txBody>
          <a:bodyPr wrap="none" lIns="0" tIns="0" rIns="0" bIns="0">
            <a:spAutoFit/>
          </a:bodyPr>
          <a:lstStyle>
            <a:lvl1pPr>
              <a:lnSpc>
                <a:spcPts val="2700"/>
              </a:lnSpc>
              <a:defRPr sz="2200">
                <a:solidFill>
                  <a:srgbClr val="504C49"/>
                </a:solidFill>
                <a:latin typeface="Platypi Medium"/>
                <a:ea typeface="Platypi Medium"/>
                <a:cs typeface="Platypi Medium"/>
                <a:sym typeface="Platypi Medium"/>
              </a:defRPr>
            </a:lvl1pPr>
          </a:lstStyle>
          <a:p>
            <a:r>
              <a:t>Intuitive Navigation</a:t>
            </a:r>
          </a:p>
        </p:txBody>
      </p:sp>
      <p:sp>
        <p:nvSpPr>
          <p:cNvPr id="165" name="Text 9"/>
          <p:cNvSpPr txBox="1"/>
          <p:nvPr/>
        </p:nvSpPr>
        <p:spPr>
          <a:xfrm>
            <a:off x="6507004" y="6541530"/>
            <a:ext cx="7102795" cy="689734"/>
          </a:xfrm>
          <a:prstGeom prst="rect">
            <a:avLst/>
          </a:prstGeom>
          <a:ln w="12700">
            <a:miter lim="400000"/>
          </a:ln>
        </p:spPr>
        <p:txBody>
          <a:bodyPr lIns="0" tIns="0" rIns="0" bIns="0">
            <a:spAutoFit/>
          </a:bodyPr>
          <a:lstStyle>
            <a:lvl1pPr>
              <a:lnSpc>
                <a:spcPts val="2800"/>
              </a:lnSpc>
              <a:defRPr sz="1700">
                <a:solidFill>
                  <a:srgbClr val="504C49"/>
                </a:solidFill>
                <a:latin typeface="Source Serif Pro"/>
                <a:ea typeface="Source Serif Pro"/>
                <a:cs typeface="Source Serif Pro"/>
                <a:sym typeface="Source Serif Pro"/>
              </a:defRPr>
            </a:lvl1pPr>
          </a:lstStyle>
          <a:p>
            <a:r>
              <a:t>Clear menus, intuitive icons, and smart defaults help users quickly find the information they need.</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 0"/>
          <p:cNvSpPr txBox="1"/>
          <p:nvPr/>
        </p:nvSpPr>
        <p:spPr>
          <a:xfrm>
            <a:off x="6148070" y="347345"/>
            <a:ext cx="7820025" cy="2213610"/>
          </a:xfrm>
          <a:prstGeom prst="rect">
            <a:avLst/>
          </a:prstGeom>
          <a:ln w="12700">
            <a:miter lim="400000"/>
          </a:ln>
        </p:spPr>
        <p:txBody>
          <a:bodyPr lIns="0" tIns="0" rIns="0" bIns="0">
            <a:noAutofit/>
          </a:bodyPr>
          <a:lstStyle>
            <a:lvl1pPr>
              <a:lnSpc>
                <a:spcPts val="4600"/>
              </a:lnSpc>
              <a:defRPr sz="3700">
                <a:solidFill>
                  <a:srgbClr val="201B18"/>
                </a:solidFill>
                <a:latin typeface="Platypi Medium"/>
                <a:ea typeface="Platypi Medium"/>
                <a:cs typeface="Platypi Medium"/>
                <a:sym typeface="Platypi Medium"/>
              </a:defRPr>
            </a:lvl1pPr>
          </a:lstStyle>
          <a:p>
            <a:r>
              <a:t>Potential Impact: Enhancing Commuter Experience and Improving Operational Efficiency</a:t>
            </a:r>
          </a:p>
        </p:txBody>
      </p:sp>
      <p:pic>
        <p:nvPicPr>
          <p:cNvPr id="168" name="Image 1" descr="Image 1"/>
          <p:cNvPicPr>
            <a:picLocks noChangeAspect="1"/>
          </p:cNvPicPr>
          <p:nvPr/>
        </p:nvPicPr>
        <p:blipFill>
          <a:blip r:embed="rId1"/>
          <a:stretch>
            <a:fillRect/>
          </a:stretch>
        </p:blipFill>
        <p:spPr>
          <a:xfrm>
            <a:off x="6148268" y="2873693"/>
            <a:ext cx="945477" cy="1512810"/>
          </a:xfrm>
          <a:prstGeom prst="rect">
            <a:avLst/>
          </a:prstGeom>
          <a:ln w="12700">
            <a:miter lim="400000"/>
            <a:headEnd/>
            <a:tailEnd/>
          </a:ln>
        </p:spPr>
      </p:pic>
      <p:sp>
        <p:nvSpPr>
          <p:cNvPr id="169" name="Text 1"/>
          <p:cNvSpPr txBox="1"/>
          <p:nvPr/>
        </p:nvSpPr>
        <p:spPr>
          <a:xfrm>
            <a:off x="7377351" y="3062764"/>
            <a:ext cx="2418582" cy="286254"/>
          </a:xfrm>
          <a:prstGeom prst="rect">
            <a:avLst/>
          </a:prstGeom>
          <a:ln w="12700">
            <a:miter lim="400000"/>
          </a:ln>
        </p:spPr>
        <p:txBody>
          <a:bodyPr wrap="none" lIns="0" tIns="0" rIns="0" bIns="0">
            <a:spAutoFit/>
          </a:bodyPr>
          <a:lstStyle>
            <a:lvl1pPr>
              <a:lnSpc>
                <a:spcPts val="2300"/>
              </a:lnSpc>
              <a:defRPr>
                <a:solidFill>
                  <a:srgbClr val="504C49"/>
                </a:solidFill>
                <a:latin typeface="Platypi Medium"/>
                <a:ea typeface="Platypi Medium"/>
                <a:cs typeface="Platypi Medium"/>
                <a:sym typeface="Platypi Medium"/>
              </a:defRPr>
            </a:lvl1pPr>
          </a:lstStyle>
          <a:p>
            <a:r>
              <a:t>Reduced Waiting Times</a:t>
            </a:r>
          </a:p>
        </p:txBody>
      </p:sp>
      <p:sp>
        <p:nvSpPr>
          <p:cNvPr id="170" name="Text 2"/>
          <p:cNvSpPr txBox="1"/>
          <p:nvPr/>
        </p:nvSpPr>
        <p:spPr>
          <a:xfrm>
            <a:off x="7377351" y="3471624"/>
            <a:ext cx="6591181" cy="566671"/>
          </a:xfrm>
          <a:prstGeom prst="rect">
            <a:avLst/>
          </a:prstGeom>
          <a:ln w="12700">
            <a:miter lim="400000"/>
          </a:ln>
        </p:spPr>
        <p:txBody>
          <a:bodyPr lIns="0" tIns="0" rIns="0" bIns="0">
            <a:spAutoFit/>
          </a:bodyPr>
          <a:lstStyle>
            <a:lvl1pPr>
              <a:lnSpc>
                <a:spcPts val="2300"/>
              </a:lnSpc>
              <a:defRPr sz="1400">
                <a:solidFill>
                  <a:srgbClr val="504C49"/>
                </a:solidFill>
                <a:latin typeface="Source Serif Pro"/>
                <a:ea typeface="Source Serif Pro"/>
                <a:cs typeface="Source Serif Pro"/>
                <a:sym typeface="Source Serif Pro"/>
              </a:defRPr>
            </a:lvl1pPr>
          </a:lstStyle>
          <a:p>
            <a:r>
              <a:t>Commuters can better time their arrivals, minimizing time spent waiting at bus stops.</a:t>
            </a:r>
          </a:p>
        </p:txBody>
      </p:sp>
      <p:pic>
        <p:nvPicPr>
          <p:cNvPr id="171" name="Image 2" descr="Image 2"/>
          <p:cNvPicPr>
            <a:picLocks noChangeAspect="1"/>
          </p:cNvPicPr>
          <p:nvPr/>
        </p:nvPicPr>
        <p:blipFill>
          <a:blip r:embed="rId2"/>
          <a:stretch>
            <a:fillRect/>
          </a:stretch>
        </p:blipFill>
        <p:spPr>
          <a:xfrm>
            <a:off x="6148268" y="4386500"/>
            <a:ext cx="945477" cy="1512810"/>
          </a:xfrm>
          <a:prstGeom prst="rect">
            <a:avLst/>
          </a:prstGeom>
          <a:ln w="12700">
            <a:miter lim="400000"/>
            <a:headEnd/>
            <a:tailEnd/>
          </a:ln>
        </p:spPr>
      </p:pic>
      <p:sp>
        <p:nvSpPr>
          <p:cNvPr id="172" name="Text 3"/>
          <p:cNvSpPr txBox="1"/>
          <p:nvPr/>
        </p:nvSpPr>
        <p:spPr>
          <a:xfrm>
            <a:off x="7377351" y="4575571"/>
            <a:ext cx="2299929" cy="286254"/>
          </a:xfrm>
          <a:prstGeom prst="rect">
            <a:avLst/>
          </a:prstGeom>
          <a:ln w="12700">
            <a:miter lim="400000"/>
          </a:ln>
        </p:spPr>
        <p:txBody>
          <a:bodyPr wrap="none" lIns="0" tIns="0" rIns="0" bIns="0">
            <a:spAutoFit/>
          </a:bodyPr>
          <a:lstStyle>
            <a:lvl1pPr>
              <a:lnSpc>
                <a:spcPts val="2300"/>
              </a:lnSpc>
              <a:defRPr>
                <a:solidFill>
                  <a:srgbClr val="504C49"/>
                </a:solidFill>
                <a:latin typeface="Platypi Medium"/>
                <a:ea typeface="Platypi Medium"/>
                <a:cs typeface="Platypi Medium"/>
                <a:sym typeface="Platypi Medium"/>
              </a:defRPr>
            </a:lvl1pPr>
          </a:lstStyle>
          <a:p>
            <a:r>
              <a:t>Improved Connections</a:t>
            </a:r>
          </a:p>
        </p:txBody>
      </p:sp>
      <p:sp>
        <p:nvSpPr>
          <p:cNvPr id="173" name="Text 4"/>
          <p:cNvSpPr txBox="1"/>
          <p:nvPr/>
        </p:nvSpPr>
        <p:spPr>
          <a:xfrm>
            <a:off x="7377351" y="4984432"/>
            <a:ext cx="6591181" cy="274571"/>
          </a:xfrm>
          <a:prstGeom prst="rect">
            <a:avLst/>
          </a:prstGeom>
          <a:ln w="12700">
            <a:miter lim="400000"/>
          </a:ln>
        </p:spPr>
        <p:txBody>
          <a:bodyPr lIns="0" tIns="0" rIns="0" bIns="0">
            <a:spAutoFit/>
          </a:bodyPr>
          <a:lstStyle>
            <a:lvl1pPr>
              <a:lnSpc>
                <a:spcPts val="2300"/>
              </a:lnSpc>
              <a:defRPr sz="1400">
                <a:solidFill>
                  <a:srgbClr val="504C49"/>
                </a:solidFill>
                <a:latin typeface="Source Serif Pro"/>
                <a:ea typeface="Source Serif Pro"/>
                <a:cs typeface="Source Serif Pro"/>
                <a:sym typeface="Source Serif Pro"/>
              </a:defRPr>
            </a:lvl1pPr>
          </a:lstStyle>
          <a:p>
            <a:r>
              <a:t>Real-time alerts help commuters adjust plans and make their connections on time.</a:t>
            </a:r>
          </a:p>
        </p:txBody>
      </p:sp>
      <p:pic>
        <p:nvPicPr>
          <p:cNvPr id="174" name="Image 3" descr="Image 3"/>
          <p:cNvPicPr>
            <a:picLocks noChangeAspect="1"/>
          </p:cNvPicPr>
          <p:nvPr/>
        </p:nvPicPr>
        <p:blipFill>
          <a:blip r:embed="rId3"/>
          <a:stretch>
            <a:fillRect/>
          </a:stretch>
        </p:blipFill>
        <p:spPr>
          <a:xfrm>
            <a:off x="6148268" y="5899308"/>
            <a:ext cx="945477" cy="1512810"/>
          </a:xfrm>
          <a:prstGeom prst="rect">
            <a:avLst/>
          </a:prstGeom>
          <a:ln w="12700">
            <a:miter lim="400000"/>
            <a:headEnd/>
            <a:tailEnd/>
          </a:ln>
        </p:spPr>
      </p:pic>
      <p:sp>
        <p:nvSpPr>
          <p:cNvPr id="175" name="Text 5"/>
          <p:cNvSpPr txBox="1"/>
          <p:nvPr/>
        </p:nvSpPr>
        <p:spPr>
          <a:xfrm>
            <a:off x="7377351" y="6088379"/>
            <a:ext cx="3138984" cy="286254"/>
          </a:xfrm>
          <a:prstGeom prst="rect">
            <a:avLst/>
          </a:prstGeom>
          <a:ln w="12700">
            <a:miter lim="400000"/>
          </a:ln>
        </p:spPr>
        <p:txBody>
          <a:bodyPr wrap="none" lIns="0" tIns="0" rIns="0" bIns="0">
            <a:spAutoFit/>
          </a:bodyPr>
          <a:lstStyle>
            <a:lvl1pPr>
              <a:lnSpc>
                <a:spcPts val="2300"/>
              </a:lnSpc>
              <a:defRPr>
                <a:solidFill>
                  <a:srgbClr val="504C49"/>
                </a:solidFill>
                <a:latin typeface="Platypi Medium"/>
                <a:ea typeface="Platypi Medium"/>
                <a:cs typeface="Platypi Medium"/>
                <a:sym typeface="Platypi Medium"/>
              </a:defRPr>
            </a:lvl1pPr>
          </a:lstStyle>
          <a:p>
            <a:r>
              <a:t>Enhanced Operational Insights</a:t>
            </a:r>
          </a:p>
        </p:txBody>
      </p:sp>
      <p:sp>
        <p:nvSpPr>
          <p:cNvPr id="176" name="Text 6"/>
          <p:cNvSpPr txBox="1"/>
          <p:nvPr/>
        </p:nvSpPr>
        <p:spPr>
          <a:xfrm>
            <a:off x="7377351" y="6497240"/>
            <a:ext cx="6591181" cy="566672"/>
          </a:xfrm>
          <a:prstGeom prst="rect">
            <a:avLst/>
          </a:prstGeom>
          <a:ln w="12700">
            <a:miter lim="400000"/>
          </a:ln>
        </p:spPr>
        <p:txBody>
          <a:bodyPr lIns="0" tIns="0" rIns="0" bIns="0">
            <a:spAutoFit/>
          </a:bodyPr>
          <a:lstStyle>
            <a:lvl1pPr>
              <a:lnSpc>
                <a:spcPts val="2300"/>
              </a:lnSpc>
              <a:defRPr sz="1400">
                <a:solidFill>
                  <a:srgbClr val="504C49"/>
                </a:solidFill>
                <a:latin typeface="Source Serif Pro"/>
                <a:ea typeface="Source Serif Pro"/>
                <a:cs typeface="Source Serif Pro"/>
                <a:sym typeface="Source Serif Pro"/>
              </a:defRPr>
            </a:lvl1pPr>
          </a:lstStyle>
          <a:p>
            <a:r>
              <a:t>The app's data can help Haryana Roadways optimize routes, schedules and resource allocation.</a:t>
            </a:r>
          </a:p>
        </p:txBody>
      </p:sp>
      <p:grpSp>
        <p:nvGrpSpPr>
          <p:cNvPr id="179" name="Image Gallery"/>
          <p:cNvGrpSpPr/>
          <p:nvPr/>
        </p:nvGrpSpPr>
        <p:grpSpPr>
          <a:xfrm>
            <a:off x="54685" y="95703"/>
            <a:ext cx="5127925" cy="8604908"/>
            <a:chOff x="0" y="0"/>
            <a:chExt cx="5127924" cy="8604907"/>
          </a:xfrm>
        </p:grpSpPr>
        <p:pic>
          <p:nvPicPr>
            <p:cNvPr id="177" name="WhatsApp Image 2024-10-19 at 08.35.45.jpeg" descr="WhatsApp Image 2024-10-19 at 08.35.45.jpeg"/>
            <p:cNvPicPr>
              <a:picLocks noChangeAspect="1"/>
            </p:cNvPicPr>
            <p:nvPr/>
          </p:nvPicPr>
          <p:blipFill>
            <a:blip r:embed="rId4"/>
            <a:srcRect l="4651" r="380"/>
            <a:stretch>
              <a:fillRect/>
            </a:stretch>
          </p:blipFill>
          <p:spPr>
            <a:xfrm>
              <a:off x="0" y="0"/>
              <a:ext cx="5127924" cy="8099449"/>
            </a:xfrm>
            <a:prstGeom prst="rect">
              <a:avLst/>
            </a:prstGeom>
            <a:ln w="12700" cap="flat">
              <a:noFill/>
              <a:miter lim="400000"/>
              <a:headEnd/>
              <a:tailEnd/>
            </a:ln>
            <a:effectLst/>
          </p:spPr>
        </p:pic>
        <p:sp>
          <p:nvSpPr>
            <p:cNvPr id="178" name="Caption"/>
            <p:cNvSpPr txBox="1"/>
            <p:nvPr/>
          </p:nvSpPr>
          <p:spPr>
            <a:xfrm>
              <a:off x="0" y="8175647"/>
              <a:ext cx="5127924" cy="429260"/>
            </a:xfrm>
            <a:prstGeom prst="rect">
              <a:avLst/>
            </a:prstGeom>
            <a:noFill/>
            <a:ln w="12700" cap="flat">
              <a:noFill/>
              <a:miter lim="400000"/>
            </a:ln>
            <a:effectLst/>
          </p:spPr>
          <p:txBody>
            <a:bodyPr wrap="square" lIns="76200" tIns="76200" rIns="76200" bIns="76200" numCol="1" anchor="t">
              <a:spAutoFit/>
            </a:bodyPr>
            <a:lstStyle/>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 name="WhatsApp Image 2024-10-19 at 07.59.43.jpeg" descr="WhatsApp Image 2024-10-19 at 07.59.43.jpeg"/>
          <p:cNvPicPr>
            <a:picLocks noChangeAspect="1"/>
          </p:cNvPicPr>
          <p:nvPr/>
        </p:nvPicPr>
        <p:blipFill>
          <a:blip r:embed="rId1"/>
          <a:srcRect l="1578" r="1578"/>
          <a:stretch>
            <a:fillRect/>
          </a:stretch>
        </p:blipFill>
        <p:spPr>
          <a:xfrm>
            <a:off x="9613900" y="-20955"/>
            <a:ext cx="4973320" cy="8285480"/>
          </a:xfrm>
          <a:prstGeom prst="rect">
            <a:avLst/>
          </a:prstGeom>
          <a:ln w="12700" cap="flat">
            <a:noFill/>
            <a:miter lim="400000"/>
            <a:headEnd/>
            <a:tailEnd/>
          </a:ln>
          <a:effectLst/>
        </p:spPr>
      </p:pic>
      <p:sp>
        <p:nvSpPr>
          <p:cNvPr id="184" name="Conclusion: Roadmap for Implementation and Future Enhancements"/>
          <p:cNvSpPr txBox="1"/>
          <p:nvPr/>
        </p:nvSpPr>
        <p:spPr>
          <a:xfrm>
            <a:off x="762000" y="-43180"/>
            <a:ext cx="7373620" cy="1956435"/>
          </a:xfrm>
          <a:prstGeom prst="rect">
            <a:avLst/>
          </a:prstGeom>
          <a:ln w="12700">
            <a:miter lim="400000"/>
          </a:ln>
        </p:spPr>
        <p:txBody>
          <a:bodyPr wrap="square" lIns="45718" tIns="45718" rIns="45718" bIns="45718">
            <a:noAutofit/>
          </a:bodyPr>
          <a:lstStyle>
            <a:lvl1pPr algn="ctr">
              <a:defRPr sz="4400">
                <a:latin typeface="Calibri Light" panose="020F0302020204030204"/>
                <a:ea typeface="Calibri Light" panose="020F0302020204030204"/>
                <a:cs typeface="Calibri Light" panose="020F0302020204030204"/>
                <a:sym typeface="Calibri Light" panose="020F0302020204030204"/>
              </a:defRPr>
            </a:lvl1pPr>
          </a:lstStyle>
          <a:p>
            <a:r>
              <a:t>Conclusion: Roadmap for Implementation and Future Enhancements</a:t>
            </a:r>
          </a:p>
        </p:txBody>
      </p:sp>
      <p:sp>
        <p:nvSpPr>
          <p:cNvPr id="185" name="Deploy the app in a select region to gather user feedback and refine the solution"/>
          <p:cNvSpPr txBox="1"/>
          <p:nvPr/>
        </p:nvSpPr>
        <p:spPr>
          <a:xfrm>
            <a:off x="863179" y="2545213"/>
            <a:ext cx="7550717" cy="333086"/>
          </a:xfrm>
          <a:prstGeom prst="rect">
            <a:avLst/>
          </a:prstGeom>
          <a:ln w="12700">
            <a:miter lim="400000"/>
          </a:ln>
        </p:spPr>
        <p:txBody>
          <a:bodyPr wrap="none" lIns="45718" tIns="45718" rIns="45718" bIns="45718">
            <a:spAutoFit/>
          </a:bodyPr>
          <a:lstStyle/>
          <a:p>
            <a:r>
              <a:t>Deploy the app in a select region to gather user feedback and refine the solution</a:t>
            </a:r>
          </a:p>
        </p:txBody>
      </p:sp>
      <p:sp>
        <p:nvSpPr>
          <p:cNvPr id="186" name="Gradually expand the app’s coverage to the entire Haryana roadways network"/>
          <p:cNvSpPr txBox="1"/>
          <p:nvPr/>
        </p:nvSpPr>
        <p:spPr>
          <a:xfrm>
            <a:off x="888854" y="3885297"/>
            <a:ext cx="7298565" cy="333086"/>
          </a:xfrm>
          <a:prstGeom prst="rect">
            <a:avLst/>
          </a:prstGeom>
          <a:ln w="12700">
            <a:miter lim="400000"/>
          </a:ln>
        </p:spPr>
        <p:txBody>
          <a:bodyPr wrap="none" lIns="45718" tIns="45718" rIns="45718" bIns="45718">
            <a:spAutoFit/>
          </a:bodyPr>
          <a:lstStyle/>
          <a:p>
            <a:r>
              <a:t>Gradually expand the app’s coverage to the entire Haryana roadways network</a:t>
            </a:r>
          </a:p>
        </p:txBody>
      </p:sp>
      <p:sp>
        <p:nvSpPr>
          <p:cNvPr id="187" name="Regularly update the app with new features and integration based on user needs"/>
          <p:cNvSpPr txBox="1"/>
          <p:nvPr/>
        </p:nvSpPr>
        <p:spPr>
          <a:xfrm>
            <a:off x="940330" y="5225380"/>
            <a:ext cx="7590789" cy="333086"/>
          </a:xfrm>
          <a:prstGeom prst="rect">
            <a:avLst/>
          </a:prstGeom>
          <a:ln w="12700">
            <a:miter lim="400000"/>
          </a:ln>
        </p:spPr>
        <p:txBody>
          <a:bodyPr wrap="none" lIns="45718" tIns="45718" rIns="45718" bIns="45718">
            <a:spAutoFit/>
          </a:bodyPr>
          <a:lstStyle/>
          <a:p>
            <a:r>
              <a:t>Regularly update the app with new features and integration based on user needs</a:t>
            </a:r>
          </a:p>
        </p:txBody>
      </p:sp>
      <p:sp>
        <p:nvSpPr>
          <p:cNvPr id="188" name="By delivering real time visibility and enhanced services, this Haryana roadways mobile app  has the potential to transform the daily commute for millions of passengers, while also  driving operational efficiencies for the transportation authority"/>
          <p:cNvSpPr txBox="1"/>
          <p:nvPr/>
        </p:nvSpPr>
        <p:spPr>
          <a:xfrm>
            <a:off x="291011" y="6133232"/>
            <a:ext cx="8494250" cy="917287"/>
          </a:xfrm>
          <a:prstGeom prst="rect">
            <a:avLst/>
          </a:prstGeom>
          <a:ln w="12700">
            <a:miter lim="400000"/>
          </a:ln>
        </p:spPr>
        <p:txBody>
          <a:bodyPr wrap="none" lIns="45718" tIns="45718" rIns="45718" bIns="45718">
            <a:spAutoFit/>
          </a:bodyPr>
          <a:lstStyle/>
          <a:p>
            <a:r>
              <a:t>By delivering real time visibility and enhanced services, this Haryana roadways mobile app </a:t>
            </a:r>
            <a:br/>
            <a:r>
              <a:t>has the potential to transform the daily commute for millions of passengers, while also </a:t>
            </a:r>
            <a:br/>
            <a:r>
              <a:t>driving operational efficiencies for the transportation authority</a:t>
            </a:r>
          </a:p>
        </p:txBody>
      </p:sp>
      <p:sp>
        <p:nvSpPr>
          <p:cNvPr id="189" name="Shape 1"/>
          <p:cNvSpPr/>
          <p:nvPr/>
        </p:nvSpPr>
        <p:spPr>
          <a:xfrm>
            <a:off x="241792" y="1961012"/>
            <a:ext cx="466251" cy="466251"/>
          </a:xfrm>
          <a:prstGeom prst="roundRect">
            <a:avLst>
              <a:gd name="adj" fmla="val 6668"/>
            </a:avLst>
          </a:prstGeom>
          <a:solidFill>
            <a:srgbClr val="F9F7F7"/>
          </a:solidFill>
          <a:ln w="12700">
            <a:miter lim="400000"/>
          </a:ln>
        </p:spPr>
        <p:txBody>
          <a:bodyPr lIns="45718" tIns="45718" rIns="45718" bIns="45718"/>
          <a:lstStyle/>
          <a:p/>
        </p:txBody>
      </p:sp>
      <p:sp>
        <p:nvSpPr>
          <p:cNvPr id="190" name="Shape 1"/>
          <p:cNvSpPr/>
          <p:nvPr/>
        </p:nvSpPr>
        <p:spPr>
          <a:xfrm>
            <a:off x="241792" y="3301096"/>
            <a:ext cx="466251" cy="466251"/>
          </a:xfrm>
          <a:prstGeom prst="roundRect">
            <a:avLst>
              <a:gd name="adj" fmla="val 6668"/>
            </a:avLst>
          </a:prstGeom>
          <a:solidFill>
            <a:srgbClr val="F9F7F7"/>
          </a:solidFill>
          <a:ln w="12700">
            <a:miter lim="400000"/>
          </a:ln>
        </p:spPr>
        <p:txBody>
          <a:bodyPr lIns="45718" tIns="45718" rIns="45718" bIns="45718"/>
          <a:lstStyle/>
          <a:p/>
        </p:txBody>
      </p:sp>
      <p:sp>
        <p:nvSpPr>
          <p:cNvPr id="191" name="Shape 1"/>
          <p:cNvSpPr/>
          <p:nvPr/>
        </p:nvSpPr>
        <p:spPr>
          <a:xfrm>
            <a:off x="241792" y="4641179"/>
            <a:ext cx="466251" cy="466251"/>
          </a:xfrm>
          <a:prstGeom prst="roundRect">
            <a:avLst>
              <a:gd name="adj" fmla="val 6668"/>
            </a:avLst>
          </a:prstGeom>
          <a:solidFill>
            <a:srgbClr val="F9F7F7"/>
          </a:solidFill>
          <a:ln w="12700">
            <a:miter lim="400000"/>
          </a:ln>
        </p:spPr>
        <p:txBody>
          <a:bodyPr lIns="45718" tIns="45718" rIns="45718" bIns="45718"/>
          <a:lstStyle/>
          <a:p/>
        </p:txBody>
      </p:sp>
      <p:sp>
        <p:nvSpPr>
          <p:cNvPr id="192" name="1"/>
          <p:cNvSpPr txBox="1"/>
          <p:nvPr/>
        </p:nvSpPr>
        <p:spPr>
          <a:xfrm>
            <a:off x="364916" y="2027593"/>
            <a:ext cx="220001" cy="333087"/>
          </a:xfrm>
          <a:prstGeom prst="rect">
            <a:avLst/>
          </a:prstGeom>
          <a:ln w="12700">
            <a:miter lim="400000"/>
          </a:ln>
        </p:spPr>
        <p:txBody>
          <a:bodyPr wrap="none" lIns="45718" tIns="45718" rIns="45718" bIns="45718">
            <a:spAutoFit/>
          </a:bodyPr>
          <a:lstStyle/>
          <a:p>
            <a:r>
              <a:t>1</a:t>
            </a:r>
          </a:p>
        </p:txBody>
      </p:sp>
      <p:sp>
        <p:nvSpPr>
          <p:cNvPr id="193" name="2"/>
          <p:cNvSpPr txBox="1"/>
          <p:nvPr/>
        </p:nvSpPr>
        <p:spPr>
          <a:xfrm>
            <a:off x="364916" y="3367676"/>
            <a:ext cx="220001" cy="333087"/>
          </a:xfrm>
          <a:prstGeom prst="rect">
            <a:avLst/>
          </a:prstGeom>
          <a:ln w="12700">
            <a:miter lim="400000"/>
          </a:ln>
        </p:spPr>
        <p:txBody>
          <a:bodyPr wrap="none" lIns="45718" tIns="45718" rIns="45718" bIns="45718">
            <a:spAutoFit/>
          </a:bodyPr>
          <a:lstStyle/>
          <a:p>
            <a:r>
              <a:t>2</a:t>
            </a:r>
          </a:p>
        </p:txBody>
      </p:sp>
      <p:sp>
        <p:nvSpPr>
          <p:cNvPr id="194" name="3"/>
          <p:cNvSpPr txBox="1"/>
          <p:nvPr/>
        </p:nvSpPr>
        <p:spPr>
          <a:xfrm>
            <a:off x="364916" y="4707760"/>
            <a:ext cx="220001" cy="333087"/>
          </a:xfrm>
          <a:prstGeom prst="rect">
            <a:avLst/>
          </a:prstGeom>
          <a:ln w="12700">
            <a:miter lim="400000"/>
          </a:ln>
        </p:spPr>
        <p:txBody>
          <a:bodyPr wrap="none" lIns="45718" tIns="45718" rIns="45718" bIns="45718">
            <a:spAutoFit/>
          </a:bodyPr>
          <a:lstStyle/>
          <a:p>
            <a:r>
              <a:t>3</a:t>
            </a:r>
          </a:p>
        </p:txBody>
      </p:sp>
      <p:sp>
        <p:nvSpPr>
          <p:cNvPr id="195" name="Text 3"/>
          <p:cNvSpPr txBox="1"/>
          <p:nvPr/>
        </p:nvSpPr>
        <p:spPr>
          <a:xfrm>
            <a:off x="942840" y="2037929"/>
            <a:ext cx="1551336" cy="312416"/>
          </a:xfrm>
          <a:prstGeom prst="rect">
            <a:avLst/>
          </a:prstGeom>
          <a:ln w="12700">
            <a:miter lim="400000"/>
          </a:ln>
        </p:spPr>
        <p:txBody>
          <a:bodyPr wrap="none" lIns="0" tIns="0" rIns="0" bIns="0">
            <a:spAutoFit/>
          </a:bodyPr>
          <a:lstStyle>
            <a:lvl1pPr>
              <a:lnSpc>
                <a:spcPts val="2500"/>
              </a:lnSpc>
              <a:defRPr sz="2000">
                <a:solidFill>
                  <a:srgbClr val="504C49"/>
                </a:solidFill>
                <a:latin typeface="Platypi Medium"/>
                <a:ea typeface="Platypi Medium"/>
                <a:cs typeface="Platypi Medium"/>
                <a:sym typeface="Platypi Medium"/>
              </a:defRPr>
            </a:lvl1pPr>
          </a:lstStyle>
          <a:p>
            <a:r>
              <a:t>Pilot Program</a:t>
            </a:r>
          </a:p>
        </p:txBody>
      </p:sp>
      <p:sp>
        <p:nvSpPr>
          <p:cNvPr id="196" name="Text 7"/>
          <p:cNvSpPr txBox="1"/>
          <p:nvPr/>
        </p:nvSpPr>
        <p:spPr>
          <a:xfrm>
            <a:off x="947522" y="3378013"/>
            <a:ext cx="1735386" cy="312416"/>
          </a:xfrm>
          <a:prstGeom prst="rect">
            <a:avLst/>
          </a:prstGeom>
          <a:ln w="12700">
            <a:miter lim="400000"/>
          </a:ln>
        </p:spPr>
        <p:txBody>
          <a:bodyPr wrap="none" lIns="0" tIns="0" rIns="0" bIns="0">
            <a:spAutoFit/>
          </a:bodyPr>
          <a:lstStyle>
            <a:lvl1pPr>
              <a:lnSpc>
                <a:spcPts val="2500"/>
              </a:lnSpc>
              <a:defRPr sz="2000">
                <a:solidFill>
                  <a:srgbClr val="504C49"/>
                </a:solidFill>
                <a:latin typeface="Platypi Medium"/>
                <a:ea typeface="Platypi Medium"/>
                <a:cs typeface="Platypi Medium"/>
                <a:sym typeface="Platypi Medium"/>
              </a:defRPr>
            </a:lvl1pPr>
          </a:lstStyle>
          <a:p>
            <a:r>
              <a:t>Phased Rollout</a:t>
            </a:r>
          </a:p>
        </p:txBody>
      </p:sp>
      <p:sp>
        <p:nvSpPr>
          <p:cNvPr id="197" name="Text 11"/>
          <p:cNvSpPr txBox="1"/>
          <p:nvPr/>
        </p:nvSpPr>
        <p:spPr>
          <a:xfrm>
            <a:off x="982060" y="4760790"/>
            <a:ext cx="2850481" cy="312416"/>
          </a:xfrm>
          <a:prstGeom prst="rect">
            <a:avLst/>
          </a:prstGeom>
          <a:ln w="12700">
            <a:miter lim="400000"/>
          </a:ln>
        </p:spPr>
        <p:txBody>
          <a:bodyPr wrap="none" lIns="0" tIns="0" rIns="0" bIns="0">
            <a:spAutoFit/>
          </a:bodyPr>
          <a:lstStyle>
            <a:lvl1pPr>
              <a:lnSpc>
                <a:spcPts val="2500"/>
              </a:lnSpc>
              <a:defRPr sz="2000">
                <a:solidFill>
                  <a:srgbClr val="504C49"/>
                </a:solidFill>
                <a:latin typeface="Platypi Medium"/>
                <a:ea typeface="Platypi Medium"/>
                <a:cs typeface="Platypi Medium"/>
                <a:sym typeface="Platypi Medium"/>
              </a:defRPr>
            </a:lvl1pPr>
          </a:lstStyle>
          <a:p>
            <a:r>
              <a:t>Continuous Improvement</a:t>
            </a:r>
          </a:p>
        </p:txBody>
      </p:sp>
      <p:sp>
        <p:nvSpPr>
          <p:cNvPr id="198" name="Made by script surfers"/>
          <p:cNvSpPr txBox="1"/>
          <p:nvPr/>
        </p:nvSpPr>
        <p:spPr>
          <a:xfrm>
            <a:off x="372745" y="7722235"/>
            <a:ext cx="2404745" cy="367030"/>
          </a:xfrm>
          <a:prstGeom prst="rect">
            <a:avLst/>
          </a:prstGeom>
          <a:gradFill>
            <a:gsLst>
              <a:gs pos="0">
                <a:schemeClr val="accent1">
                  <a:hueOff val="400173"/>
                  <a:satOff val="47967"/>
                  <a:lumOff val="30281"/>
                </a:schemeClr>
              </a:gs>
              <a:gs pos="35000">
                <a:srgbClr val="BECEFF"/>
              </a:gs>
              <a:gs pos="100000">
                <a:schemeClr val="accent1">
                  <a:hueOff val="456700"/>
                  <a:satOff val="47967"/>
                  <a:lumOff val="43351"/>
                </a:schemeClr>
              </a:gs>
            </a:gsLst>
            <a:lin ang="16200000"/>
          </a:gradFill>
          <a:ln>
            <a:solidFill>
              <a:srgbClr val="5698D3"/>
            </a:solidFill>
          </a:ln>
        </p:spPr>
        <p:txBody>
          <a:bodyPr wrap="square" lIns="45718" tIns="45718" rIns="45718" bIns="45718">
            <a:spAutoFit/>
          </a:bodyPr>
          <a:lstStyle/>
          <a:p>
            <a:r>
              <a:t>Made by script surfers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a:t> </a:t>
            </a:r>
            <a:endParaRPr lang="en-GB" altLang="en-US"/>
          </a:p>
        </p:txBody>
      </p:sp>
      <p:sp>
        <p:nvSpPr>
          <p:cNvPr id="5" name="Text Box 4"/>
          <p:cNvSpPr txBox="1"/>
          <p:nvPr/>
        </p:nvSpPr>
        <p:spPr>
          <a:xfrm>
            <a:off x="106045" y="838200"/>
            <a:ext cx="14372590" cy="6256655"/>
          </a:xfrm>
          <a:prstGeom prst="rect">
            <a:avLst/>
          </a:prstGeom>
          <a:noFill/>
        </p:spPr>
        <p:txBody>
          <a:bodyPr wrap="square" rtlCol="0">
            <a:noAutofit/>
          </a:bodyPr>
          <a:p>
            <a:endParaRPr lang="en-GB" altLang="en-US"/>
          </a:p>
        </p:txBody>
      </p:sp>
      <p:sp>
        <p:nvSpPr>
          <p:cNvPr id="7" name="Text Box 6"/>
          <p:cNvSpPr txBox="1"/>
          <p:nvPr/>
        </p:nvSpPr>
        <p:spPr>
          <a:xfrm>
            <a:off x="1158240" y="1896110"/>
            <a:ext cx="9760585" cy="4289425"/>
          </a:xfrm>
          <a:prstGeom prst="rect">
            <a:avLst/>
          </a:prstGeom>
          <a:noFill/>
        </p:spPr>
        <p:txBody>
          <a:bodyPr wrap="square" rtlCol="0">
            <a:noAutofit/>
          </a:bodyPr>
          <a:p>
            <a:r>
              <a:rPr lang="en-GB" altLang="en-US" sz="9600"/>
              <a:t>          Thank You</a:t>
            </a:r>
            <a:endParaRPr lang="en-GB" altLang="en-US" sz="960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3058</Words>
  <Application>WPS Presentation</Application>
  <PresentationFormat/>
  <Paragraphs>126</Paragraphs>
  <Slides>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vt:i4>
      </vt:variant>
    </vt:vector>
  </HeadingPairs>
  <TitlesOfParts>
    <vt:vector size="20" baseType="lpstr">
      <vt:lpstr>Arial</vt:lpstr>
      <vt:lpstr>SimSun</vt:lpstr>
      <vt:lpstr>Wingdings</vt:lpstr>
      <vt:lpstr>Calibri</vt:lpstr>
      <vt:lpstr>Platypi Medium</vt:lpstr>
      <vt:lpstr>Segoe Print</vt:lpstr>
      <vt:lpstr>Source Serif Pro</vt:lpstr>
      <vt:lpstr>Calibri Light</vt:lpstr>
      <vt:lpstr>Microsoft YaHei</vt:lpstr>
      <vt:lpstr>Arial Unicode MS</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moksh</cp:lastModifiedBy>
  <cp:revision>1</cp:revision>
  <dcterms:created xsi:type="dcterms:W3CDTF">2024-10-22T11:11:58Z</dcterms:created>
  <dcterms:modified xsi:type="dcterms:W3CDTF">2024-10-22T11:11:58Z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9C8B680793DA49A497463BEC9F1D15FD_12</vt:lpwstr>
  </property>
  <property fmtid="{D5CDD505-2E9C-101B-9397-08002B2CF9AE}" pid="3" name="KSOProductBuildVer">
    <vt:lpwstr>2057-12.2.0.18607</vt:lpwstr>
  </property>
</Properties>
</file>